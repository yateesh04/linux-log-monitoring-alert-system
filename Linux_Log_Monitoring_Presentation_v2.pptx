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1A52B9E-977F-C9CE-B6F4-EE3BB7DD8569}">
          <p14:sldIdLst>
            <p14:sldId id="256"/>
            <p14:sldId id="257"/>
            <p14:sldId id="258"/>
          </p14:sldIdLst>
        </p14:section>
        <p14:section name="Design" id="{D81EE3A7-928F-557F-45B7-0D475C90EE09}">
          <p14:sldIdLst>
            <p14:sldId id="259"/>
            <p14:sldId id="260"/>
          </p14:sldIdLst>
        </p14:section>
        <p14:section name="Implementation" id="{5724D516-49CC-A8BA-024E-2F4BD5E5ACF7}">
          <p14:sldIdLst>
            <p14:sldId id="261"/>
            <p14:sldId id="262"/>
          </p14:sldIdLst>
        </p14:section>
        <p14:section name="Results" id="{38EFBBA8-B122-D15A-5018-ABB9D053F643}">
          <p14:sldIdLst>
            <p14:sldId id="263"/>
          </p14:sldIdLst>
        </p14:section>
        <p14:section name="Wrap-up" id="{9803C859-ECAA-CC38-7F45-D0FEA5CFC9C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182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team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are valuable but hard to read manually. This project automates inspection and highlights errors, critical events and failed logins.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features. The screenshot shows two failed attempts (admin and guest) detected and an alert file saved.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technologies actually used are listed.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flow through the Bash scripts and Python API, are analysed for events, produce alerts and reports, and are shown in the terminal and dashboard. Not all processing is in Python and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Five-step workflow. Monitoring is started manually and stopped with Ctrl+C or the dashboard control; no scheduled service exists.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option 8 and the dashboard give access to real Linux system logs.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read directly from the analyzer screenshot.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current limitations. Right: possible improvements that are not implemented.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outcomes,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309360" cy="173736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tx2"/>
                </a:solidFill>
              </a:rPr>
              <a:t>Linux Log Monitoring &amp; Alert System  |  Linux System Administration (E1ITA307)</a:t>
            </a:r>
            <a:endParaRPr lang="en-US" sz="1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309360" cy="1737360"/>
          </a:xfrm>
          <a:prstGeom prst="rect">
            <a:avLst/>
          </a:prstGeom>
          <a:noFill/>
          <a:ln/>
        </p:spPr>
        <p:txBody>
          <a:bodyPr wrap="square" lIns="0" tIns="0" rIns="0" bIns="0" rtlCol="0" anchor="t"/>
          <a:lstStyle/>
          <a:p>
            <a:pPr marL="0" indent="0" algn="l">
              <a:buNone/>
            </a:pPr>
            <a:r>
              <a:rPr lang="en-US" sz="4200" b="1" dirty="0">
                <a:solidFill>
                  <a:schemeClr val="bg1"/>
                </a:solidFill>
              </a:rPr>
              <a:t>Linux Log Monitoring &amp; Alert System</a:t>
            </a:r>
            <a:endParaRPr lang="en-US" sz="4200" dirty="0"/>
          </a:p>
        </p:txBody>
      </p:sp>
      <p:sp>
        <p:nvSpPr>
          <p:cNvPr id="3" name="Text 1"/>
          <p:cNvSpPr txBox="1"/>
          <p:nvPr/>
        </p:nvSpPr>
        <p:spPr>
          <a:xfrm>
            <a:off x="640080" y="3200400"/>
            <a:ext cx="6309360" cy="640080"/>
          </a:xfrm>
          <a:prstGeom prst="rect">
            <a:avLst/>
          </a:prstGeom>
          <a:noFill/>
          <a:ln/>
        </p:spPr>
        <p:txBody>
          <a:bodyPr wrap="square" lIns="0" tIns="0" rIns="0" bIns="0" rtlCol="0" anchor="t"/>
          <a:lstStyle/>
          <a:p>
            <a:pPr marL="0" indent="0">
              <a:buNone/>
            </a:pPr>
            <a:r>
              <a:rPr lang="en-US" sz="1800" dirty="0">
                <a:solidFill>
                  <a:schemeClr val="bg2"/>
                </a:solidFill>
              </a:rPr>
              <a:t>Micro-Project Presentation  |  Linux System Administration (E1ITA307)</a:t>
            </a:r>
            <a:endParaRPr lang="en-US" sz="1800" dirty="0"/>
          </a:p>
        </p:txBody>
      </p:sp>
      <p:sp>
        <p:nvSpPr>
          <p:cNvPr id="4" name="Text 2"/>
          <p:cNvSpPr txBox="1"/>
          <p:nvPr/>
        </p:nvSpPr>
        <p:spPr>
          <a:xfrm>
            <a:off x="640080" y="4114800"/>
            <a:ext cx="6309360" cy="2011680"/>
          </a:xfrm>
          <a:prstGeom prst="rect">
            <a:avLst/>
          </a:prstGeom>
          <a:noFill/>
          <a:ln/>
        </p:spPr>
        <p:txBody>
          <a:bodyPr wrap="square" lIns="0" tIns="0" rIns="0" bIns="0" rtlCol="0" anchor="t"/>
          <a:lstStyle/>
          <a:p>
            <a:pPr marL="0" indent="0">
              <a:spcAft>
                <a:spcPts val="300"/>
              </a:spcAft>
              <a:buNone/>
            </a:pPr>
            <a:r>
              <a:rPr lang="en-US" sz="1700" b="1" dirty="0">
                <a:solidFill>
                  <a:schemeClr val="bg1"/>
                </a:solidFill>
              </a:rPr>
              <a:t>Alliance University</a:t>
            </a:r>
            <a:endParaRPr lang="en-US" sz="1700" dirty="0"/>
          </a:p>
          <a:p>
            <a:pPr marL="0" indent="0">
              <a:spcAft>
                <a:spcPts val="300"/>
              </a:spcAft>
              <a:buNone/>
            </a:pPr>
            <a:r>
              <a:rPr lang="en-US" sz="1700" dirty="0">
                <a:solidFill>
                  <a:schemeClr val="bg1"/>
                </a:solidFill>
              </a:rPr>
              <a:t>Alliance School of Advanced Computing</a:t>
            </a:r>
            <a:endParaRPr lang="en-US" sz="1700" dirty="0"/>
          </a:p>
          <a:p>
            <a:pPr marL="0" indent="0">
              <a:spcAft>
                <a:spcPts val="300"/>
              </a:spcAft>
              <a:buNone/>
            </a:pPr>
            <a:r>
              <a:rPr lang="en-US" sz="1700" dirty="0">
                <a:solidFill>
                  <a:schemeClr val="bg1"/>
                </a:solidFill>
              </a:rPr>
              <a:t>Department of Information Technology</a:t>
            </a:r>
            <a:endParaRPr lang="en-US" sz="1700" dirty="0"/>
          </a:p>
          <a:p>
            <a:pPr marL="0" indent="0">
              <a:spcAft>
                <a:spcPts val="300"/>
              </a:spcAft>
              <a:buNone/>
            </a:pPr>
            <a:r>
              <a:rPr lang="en-US" sz="800" dirty="0">
                <a:solidFill>
                  <a:schemeClr val="bg1"/>
                </a:solidFill>
              </a:rPr>
              <a:t> </a:t>
            </a:r>
            <a:endParaRPr lang="en-US" sz="1700" dirty="0"/>
          </a:p>
          <a:p>
            <a:pPr marL="0" indent="0">
              <a:spcAft>
                <a:spcPts val="300"/>
              </a:spcAft>
              <a:buNone/>
            </a:pPr>
            <a:r>
              <a:rPr lang="en-US" sz="1700" dirty="0">
                <a:solidFill>
                  <a:schemeClr val="bg1"/>
                </a:solidFill>
              </a:rPr>
              <a:t>Project Guide: Mr. Kusuma</a:t>
            </a:r>
            <a:endParaRPr lang="en-US" sz="1700" dirty="0"/>
          </a:p>
          <a:p>
            <a:pPr marL="0" indent="0">
              <a:spcAft>
                <a:spcPts val="300"/>
              </a:spcAft>
              <a:buNone/>
            </a:pPr>
            <a:r>
              <a:rPr lang="en-US" sz="1700" dirty="0">
                <a:solidFill>
                  <a:schemeClr val="bg1"/>
                </a:solidFill>
              </a:rPr>
              <a:t>October 2026</a:t>
            </a:r>
            <a:endParaRPr lang="en-US" sz="1700" dirty="0"/>
          </a:p>
        </p:txBody>
      </p:sp>
      <p:sp>
        <p:nvSpPr>
          <p:cNvPr id="5" name="Text 3"/>
          <p:cNvSpPr txBox="1"/>
          <p:nvPr/>
        </p:nvSpPr>
        <p:spPr>
          <a:xfrm>
            <a:off x="7498080" y="1371600"/>
            <a:ext cx="4114800" cy="365760"/>
          </a:xfrm>
          <a:prstGeom prst="rect">
            <a:avLst/>
          </a:prstGeom>
          <a:noFill/>
          <a:ln/>
        </p:spPr>
        <p:txBody>
          <a:bodyPr wrap="square" lIns="0" tIns="0" rIns="0" bIns="0" rtlCol="0" anchor="t"/>
          <a:lstStyle/>
          <a:p>
            <a:pPr marL="0" indent="0">
              <a:buNone/>
            </a:pPr>
            <a:r>
              <a:rPr lang="en-US" sz="1800" b="1" dirty="0">
                <a:solidFill>
                  <a:schemeClr val="bg1"/>
                </a:solidFill>
              </a:rPr>
              <a:t>Project Team</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3249770912"/>
              </p:ext>
            </p:extLst>
          </p:nvPr>
        </p:nvGraphicFramePr>
        <p:xfrm>
          <a:off x="7498080" y="1874520"/>
          <a:ext cx="4142232" cy="2194560"/>
        </p:xfrm>
        <a:graphic>
          <a:graphicData uri="http://schemas.openxmlformats.org/drawingml/2006/table">
            <a:tbl>
              <a:tblPr/>
              <a:tblGrid>
                <a:gridCol w="2423160">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tblGrid>
              <a:tr h="548640">
                <a:tc>
                  <a:txBody>
                    <a:bodyPr/>
                    <a:lstStyle/>
                    <a:p>
                      <a:pPr marL="0" indent="0">
                        <a:buNone/>
                      </a:pPr>
                      <a:r>
                        <a:rPr lang="en-US" sz="1500" b="1" dirty="0">
                          <a:solidFill>
                            <a:schemeClr val="bg1"/>
                          </a:solidFill>
                        </a:rPr>
                        <a:t>P. Vamsi Chowdary</a:t>
                      </a:r>
                      <a:endParaRPr lang="en-US" sz="1500" dirty="0"/>
                    </a:p>
                  </a:txBody>
                  <a:tcPr marL="45720" marR="45720" marT="0" marB="0" anchor="ctr">
                    <a:lnL w="0" cap="flat" cmpd="sng" algn="ctr">
                      <a:noFill/>
                    </a:lnL>
                    <a:lnR w="0" cap="flat" cmpd="sng" algn="ctr">
                      <a:noFill/>
                    </a:lnR>
                    <a:lnT w="0" cap="flat" cmpd="sng" algn="ctr">
                      <a:noFill/>
                    </a:lnT>
                    <a:lnB w="9525" cap="flat" cmpd="sng" algn="ctr">
                      <a:solidFill>
                        <a:schemeClr val="tx2"/>
                      </a:solidFill>
                      <a:prstDash val="solid"/>
                      <a:round/>
                      <a:headEnd type="none" w="med" len="med"/>
                      <a:tailEnd type="none" w="med" len="med"/>
                    </a:lnB>
                  </a:tcPr>
                </a:tc>
                <a:tc>
                  <a:txBody>
                    <a:bodyPr/>
                    <a:lstStyle/>
                    <a:p>
                      <a:pPr marL="0" indent="0">
                        <a:buNone/>
                      </a:pPr>
                      <a:r>
                        <a:rPr lang="en-US" sz="1500" dirty="0">
                          <a:solidFill>
                            <a:schemeClr val="bg1"/>
                          </a:solidFill>
                        </a:rPr>
                        <a:t>2411021060894</a:t>
                      </a:r>
                      <a:endParaRPr lang="en-US" sz="1500" dirty="0"/>
                    </a:p>
                  </a:txBody>
                  <a:tcPr marL="45720" marR="45720" marT="0" marB="0" anchor="ctr">
                    <a:lnL w="0" cap="flat" cmpd="sng" algn="ctr">
                      <a:noFill/>
                    </a:lnL>
                    <a:lnR w="0" cap="flat" cmpd="sng" algn="ctr">
                      <a:noFill/>
                    </a:lnR>
                    <a:lnT w="0" cap="flat" cmpd="sng" algn="ctr">
                      <a:noFill/>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500" b="1" dirty="0">
                          <a:solidFill>
                            <a:schemeClr val="bg1"/>
                          </a:solidFill>
                        </a:rPr>
                        <a:t>Y. Yateesh Kumar Reddy</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a:txBody>
                    <a:bodyPr/>
                    <a:lstStyle/>
                    <a:p>
                      <a:pPr marL="0" indent="0">
                        <a:buNone/>
                      </a:pPr>
                      <a:r>
                        <a:rPr lang="en-US" sz="1500" dirty="0">
                          <a:solidFill>
                            <a:schemeClr val="bg1"/>
                          </a:solidFill>
                        </a:rPr>
                        <a:t>2411021060654</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500" b="1" dirty="0">
                          <a:solidFill>
                            <a:schemeClr val="bg1"/>
                          </a:solidFill>
                        </a:rPr>
                        <a:t>Y. Shashank</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a:txBody>
                    <a:bodyPr/>
                    <a:lstStyle/>
                    <a:p>
                      <a:pPr marL="0" indent="0">
                        <a:buNone/>
                      </a:pPr>
                      <a:r>
                        <a:rPr lang="en-US" sz="1500" dirty="0">
                          <a:solidFill>
                            <a:schemeClr val="bg1"/>
                          </a:solidFill>
                        </a:rPr>
                        <a:t>2411021060891</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500" b="1" dirty="0">
                          <a:solidFill>
                            <a:schemeClr val="bg1"/>
                          </a:solidFill>
                        </a:rPr>
                        <a:t>M. Santhosh</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a:txBody>
                    <a:bodyPr/>
                    <a:lstStyle/>
                    <a:p>
                      <a:pPr marL="0" indent="0">
                        <a:buNone/>
                      </a:pPr>
                      <a:r>
                        <a:rPr lang="en-US" sz="1500" dirty="0">
                          <a:solidFill>
                            <a:schemeClr val="bg1"/>
                          </a:solidFill>
                        </a:rPr>
                        <a:t>2411021060397</a:t>
                      </a:r>
                      <a:endParaRPr lang="en-US" sz="1500" dirty="0"/>
                    </a:p>
                  </a:txBody>
                  <a:tcPr marL="45720" marR="45720" marT="0" marB="0" anchor="ctr">
                    <a:lnL w="0" cap="flat" cmpd="sng" algn="ctr">
                      <a:noFill/>
                    </a:lnL>
                    <a:lnR w="0" cap="flat" cmpd="sng" algn="ct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Problem Statement and Aim</a:t>
            </a:r>
            <a:endParaRPr lang="en-US" sz="3000" dirty="0"/>
          </a:p>
        </p:txBody>
      </p:sp>
      <p:sp>
        <p:nvSpPr>
          <p:cNvPr id="3" name="Text 1"/>
          <p:cNvSpPr txBox="1"/>
          <p:nvPr/>
        </p:nvSpPr>
        <p:spPr>
          <a:xfrm>
            <a:off x="548640" y="1371600"/>
            <a:ext cx="5669280" cy="3017520"/>
          </a:xfrm>
          <a:prstGeom prst="rect">
            <a:avLst/>
          </a:prstGeom>
          <a:noFill/>
          <a:ln/>
        </p:spPr>
        <p:txBody>
          <a:bodyPr wrap="square" lIns="0" tIns="0" rIns="0" bIns="0" rtlCol="0" anchor="t"/>
          <a:lstStyle/>
          <a:p>
            <a:pPr marL="342900" indent="-342900">
              <a:spcAft>
                <a:spcPts val="1400"/>
              </a:spcAft>
              <a:buSzPct val="100000"/>
              <a:buChar char="•"/>
            </a:pPr>
            <a:r>
              <a:rPr lang="en-US" sz="1800" b="1" dirty="0">
                <a:solidFill>
                  <a:schemeClr val="tx1"/>
                </a:solidFill>
              </a:rPr>
              <a:t>Logs matter.</a:t>
            </a:r>
            <a:r>
              <a:rPr lang="en-US" sz="1800" dirty="0">
                <a:solidFill>
                  <a:schemeClr val="tx1"/>
                </a:solidFill>
              </a:rPr>
              <a:t> Linux logs record system events, errors and login attempts.</a:t>
            </a:r>
            <a:endParaRPr lang="en-US" sz="1800" dirty="0"/>
          </a:p>
          <a:p>
            <a:pPr marL="342900" indent="-342900">
              <a:spcAft>
                <a:spcPts val="1400"/>
              </a:spcAft>
              <a:buSzPct val="100000"/>
              <a:buChar char="•"/>
            </a:pPr>
            <a:r>
              <a:rPr lang="en-US" sz="1800" b="1" dirty="0">
                <a:solidFill>
                  <a:schemeClr val="tx1"/>
                </a:solidFill>
              </a:rPr>
              <a:t>Manual checking is hard.</a:t>
            </a:r>
            <a:r>
              <a:rPr lang="en-US" sz="1800" dirty="0">
                <a:solidFill>
                  <a:schemeClr val="tx1"/>
                </a:solidFill>
              </a:rPr>
              <a:t> Log files grow quickly, and reading them line by line is slow and error-prone.</a:t>
            </a:r>
            <a:endParaRPr lang="en-US" sz="1800" dirty="0"/>
          </a:p>
          <a:p>
            <a:pPr marL="342900" indent="-342900">
              <a:spcAft>
                <a:spcPts val="1400"/>
              </a:spcAft>
              <a:buSzPct val="100000"/>
              <a:buChar char="•"/>
            </a:pPr>
            <a:r>
              <a:rPr lang="en-US" sz="1800" b="1" dirty="0">
                <a:solidFill>
                  <a:schemeClr val="tx1"/>
                </a:solidFill>
              </a:rPr>
              <a:t>Detection is useful.</a:t>
            </a:r>
            <a:r>
              <a:rPr lang="en-US" sz="1800" dirty="0">
                <a:solidFill>
                  <a:schemeClr val="tx1"/>
                </a:solidFill>
              </a:rPr>
              <a:t> Errors and critical events show faults; repeated failed logins can indicate unauthorized access attempts.</a:t>
            </a:r>
            <a:endParaRPr lang="en-US" sz="1800" dirty="0"/>
          </a:p>
        </p:txBody>
      </p:sp>
      <p:sp>
        <p:nvSpPr>
          <p:cNvPr id="4" name="Shape 2"/>
          <p:cNvSpPr/>
          <p:nvPr/>
        </p:nvSpPr>
        <p:spPr>
          <a:xfrm>
            <a:off x="6675120" y="1371600"/>
            <a:ext cx="4965192" cy="2011680"/>
          </a:xfrm>
          <a:prstGeom prst="rect">
            <a:avLst/>
          </a:prstGeom>
          <a:solidFill>
            <a:schemeClr val="tx1"/>
          </a:solidFill>
          <a:ln w="12700">
            <a:solidFill>
              <a:schemeClr val="tx1"/>
            </a:solidFill>
            <a:prstDash val="solid"/>
          </a:ln>
        </p:spPr>
        <p:txBody>
          <a:bodyPr/>
          <a:lstStyle/>
          <a:p>
            <a:endParaRPr lang="en-US"/>
          </a:p>
        </p:txBody>
      </p:sp>
      <p:sp>
        <p:nvSpPr>
          <p:cNvPr id="5" name="Text 3"/>
          <p:cNvSpPr txBox="1"/>
          <p:nvPr/>
        </p:nvSpPr>
        <p:spPr>
          <a:xfrm>
            <a:off x="6812280" y="1508760"/>
            <a:ext cx="4754880" cy="1737360"/>
          </a:xfrm>
          <a:prstGeom prst="rect">
            <a:avLst/>
          </a:prstGeom>
          <a:noFill/>
          <a:ln/>
        </p:spPr>
        <p:txBody>
          <a:bodyPr wrap="square" lIns="0" tIns="0" rIns="0" bIns="0" rtlCol="0" anchor="ctr"/>
          <a:lstStyle/>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2026-10-14 09:00:00 INFO System started</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2026-10-14 09:05:12 ERROR Disk usage warning</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2026-10-14 09:10:20 FAILED Failed login for user admin</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2026-10-14 09:15:45 CRITICAL Service unavailable</a:t>
            </a:r>
            <a:endParaRPr lang="en-US" sz="1100" dirty="0"/>
          </a:p>
        </p:txBody>
      </p:sp>
      <p:sp>
        <p:nvSpPr>
          <p:cNvPr id="6" name="Text 4"/>
          <p:cNvSpPr txBox="1"/>
          <p:nvPr/>
        </p:nvSpPr>
        <p:spPr>
          <a:xfrm>
            <a:off x="6675120" y="3474720"/>
            <a:ext cx="4965192" cy="274320"/>
          </a:xfrm>
          <a:prstGeom prst="rect">
            <a:avLst/>
          </a:prstGeom>
          <a:noFill/>
          <a:ln/>
        </p:spPr>
        <p:txBody>
          <a:bodyPr wrap="square" lIns="0" tIns="0" rIns="0" bIns="0" rtlCol="0" anchor="t"/>
          <a:lstStyle/>
          <a:p>
            <a:pPr marL="0" indent="0">
              <a:buNone/>
            </a:pPr>
            <a:r>
              <a:rPr lang="en-US" sz="1200" i="1" dirty="0">
                <a:solidFill>
                  <a:schemeClr val="tx2"/>
                </a:solidFill>
              </a:rPr>
              <a:t>Example entries from sample.log: each line must be read and classified</a:t>
            </a:r>
            <a:endParaRPr lang="en-US" sz="1200" dirty="0"/>
          </a:p>
        </p:txBody>
      </p:sp>
      <p:sp>
        <p:nvSpPr>
          <p:cNvPr id="7" name="Shape 5"/>
          <p:cNvSpPr/>
          <p:nvPr/>
        </p:nvSpPr>
        <p:spPr>
          <a:xfrm>
            <a:off x="548640" y="4663440"/>
            <a:ext cx="11091672" cy="1417320"/>
          </a:xfrm>
          <a:prstGeom prst="rect">
            <a:avLst/>
          </a:prstGeom>
          <a:solidFill>
            <a:schemeClr val="bg2"/>
          </a:solidFill>
          <a:ln w="19050">
            <a:solidFill>
              <a:schemeClr val="accent1"/>
            </a:solidFill>
            <a:prstDash val="solid"/>
          </a:ln>
        </p:spPr>
        <p:txBody>
          <a:bodyPr/>
          <a:lstStyle/>
          <a:p>
            <a:endParaRPr lang="en-US"/>
          </a:p>
        </p:txBody>
      </p:sp>
      <p:sp>
        <p:nvSpPr>
          <p:cNvPr id="8" name="Text 6"/>
          <p:cNvSpPr txBox="1"/>
          <p:nvPr/>
        </p:nvSpPr>
        <p:spPr>
          <a:xfrm>
            <a:off x="777240" y="4800600"/>
            <a:ext cx="10607040" cy="1188720"/>
          </a:xfrm>
          <a:prstGeom prst="rect">
            <a:avLst/>
          </a:prstGeom>
          <a:noFill/>
          <a:ln/>
        </p:spPr>
        <p:txBody>
          <a:bodyPr wrap="square" lIns="0" tIns="0" rIns="0" bIns="0" rtlCol="0" anchor="t"/>
          <a:lstStyle/>
          <a:p>
            <a:pPr marL="0" indent="0">
              <a:spcAft>
                <a:spcPts val="400"/>
              </a:spcAft>
              <a:buNone/>
            </a:pPr>
            <a:r>
              <a:rPr lang="en-US" sz="1800" b="1" dirty="0">
                <a:solidFill>
                  <a:schemeClr val="accent1"/>
                </a:solidFill>
              </a:rPr>
              <a:t>Aim</a:t>
            </a:r>
            <a:endParaRPr lang="en-US" sz="1800" dirty="0"/>
          </a:p>
          <a:p>
            <a:pPr marL="0" indent="0">
              <a:spcAft>
                <a:spcPts val="400"/>
              </a:spcAft>
              <a:buNone/>
            </a:pPr>
            <a:r>
              <a:rPr lang="en-US" sz="1800" dirty="0">
                <a:solidFill>
                  <a:schemeClr val="tx1"/>
                </a:solidFill>
              </a:rPr>
              <a:t>To build a Linux-based tool that analyses log files, detects errors, critical events and failed logins, generates alerts and reports, and shows the results through a terminal menu and a local web dashboard.</a:t>
            </a:r>
            <a:endParaRPr lang="en-US" sz="18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Objectives and Key Features</a:t>
            </a:r>
            <a:endParaRPr lang="en-US" sz="3000" dirty="0"/>
          </a:p>
        </p:txBody>
      </p:sp>
      <p:sp>
        <p:nvSpPr>
          <p:cNvPr id="3" name="Text 1"/>
          <p:cNvSpPr txBox="1"/>
          <p:nvPr/>
        </p:nvSpPr>
        <p:spPr>
          <a:xfrm>
            <a:off x="548640" y="1371600"/>
            <a:ext cx="475488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Log viewing</a:t>
            </a:r>
            <a:endParaRPr lang="en-US" sz="1800" dirty="0"/>
          </a:p>
          <a:p>
            <a:pPr marL="342900" indent="-342900">
              <a:spcAft>
                <a:spcPts val="1000"/>
              </a:spcAft>
              <a:buSzPct val="100000"/>
              <a:buChar char="•"/>
            </a:pPr>
            <a:r>
              <a:rPr lang="en-US" sz="1800" dirty="0">
                <a:solidFill>
                  <a:schemeClr val="tx1"/>
                </a:solidFill>
              </a:rPr>
              <a:t>Keyword-based log searching</a:t>
            </a:r>
            <a:endParaRPr lang="en-US" sz="1800" dirty="0"/>
          </a:p>
          <a:p>
            <a:pPr marL="342900" indent="-342900">
              <a:spcAft>
                <a:spcPts val="1000"/>
              </a:spcAft>
              <a:buSzPct val="100000"/>
              <a:buChar char="•"/>
            </a:pPr>
            <a:r>
              <a:rPr lang="en-US" sz="1800" dirty="0">
                <a:solidFill>
                  <a:schemeClr val="tx1"/>
                </a:solidFill>
              </a:rPr>
              <a:t>Error and critical-event analysis</a:t>
            </a:r>
            <a:endParaRPr lang="en-US" sz="1800" dirty="0"/>
          </a:p>
          <a:p>
            <a:pPr marL="342900" indent="-342900">
              <a:spcAft>
                <a:spcPts val="1000"/>
              </a:spcAft>
              <a:buSzPct val="100000"/>
              <a:buChar char="•"/>
            </a:pPr>
            <a:r>
              <a:rPr lang="en-US" sz="1800" dirty="0">
                <a:solidFill>
                  <a:schemeClr val="tx1"/>
                </a:solidFill>
              </a:rPr>
              <a:t>Failed-login detection</a:t>
            </a:r>
            <a:endParaRPr lang="en-US" sz="1800" dirty="0"/>
          </a:p>
          <a:p>
            <a:pPr marL="342900" indent="-342900">
              <a:spcAft>
                <a:spcPts val="1000"/>
              </a:spcAft>
              <a:buSzPct val="100000"/>
              <a:buChar char="•"/>
            </a:pPr>
            <a:r>
              <a:rPr lang="en-US" sz="1800" dirty="0">
                <a:solidFill>
                  <a:schemeClr val="tx1"/>
                </a:solidFill>
              </a:rPr>
              <a:t>Alert generation</a:t>
            </a:r>
            <a:endParaRPr lang="en-US" sz="1800" dirty="0"/>
          </a:p>
          <a:p>
            <a:pPr marL="342900" indent="-342900">
              <a:spcAft>
                <a:spcPts val="1000"/>
              </a:spcAft>
              <a:buSzPct val="100000"/>
              <a:buChar char="•"/>
            </a:pPr>
            <a:r>
              <a:rPr lang="en-US" sz="1800" dirty="0">
                <a:solidFill>
                  <a:schemeClr val="tx1"/>
                </a:solidFill>
              </a:rPr>
              <a:t>Summary report generation</a:t>
            </a:r>
            <a:endParaRPr lang="en-US" sz="1800" dirty="0"/>
          </a:p>
          <a:p>
            <a:pPr marL="342900" indent="-342900">
              <a:spcAft>
                <a:spcPts val="1000"/>
              </a:spcAft>
              <a:buSzPct val="100000"/>
              <a:buChar char="•"/>
            </a:pPr>
            <a:r>
              <a:rPr lang="en-US" sz="1800" dirty="0">
                <a:solidFill>
                  <a:schemeClr val="tx1"/>
                </a:solidFill>
              </a:rPr>
              <a:t>Viewing real Linux system logs</a:t>
            </a:r>
            <a:endParaRPr lang="en-US" sz="1800" dirty="0"/>
          </a:p>
          <a:p>
            <a:pPr marL="342900" indent="-342900">
              <a:spcAft>
                <a:spcPts val="1000"/>
              </a:spcAft>
              <a:buSzPct val="100000"/>
              <a:buChar char="•"/>
            </a:pPr>
            <a:r>
              <a:rPr lang="en-US" sz="1800" dirty="0">
                <a:solidFill>
                  <a:schemeClr val="tx1"/>
                </a:solidFill>
              </a:rPr>
              <a:t>Web dashboard</a:t>
            </a:r>
            <a:endParaRPr lang="en-US" sz="1800" dirty="0"/>
          </a:p>
        </p:txBody>
      </p:sp>
      <p:sp>
        <p:nvSpPr>
          <p:cNvPr id="4" name="Shape 2"/>
          <p:cNvSpPr/>
          <p:nvPr/>
        </p:nvSpPr>
        <p:spPr>
          <a:xfrm>
            <a:off x="5724144" y="1426464"/>
            <a:ext cx="5925312" cy="1458958"/>
          </a:xfrm>
          <a:prstGeom prst="rect">
            <a:avLst/>
          </a:prstGeom>
          <a:solidFill>
            <a:schemeClr val="bg1"/>
          </a:solidFill>
          <a:ln w="12700">
            <a:solidFill>
              <a:schemeClr val="tx2"/>
            </a:solidFill>
            <a:prstDash val="solid"/>
          </a:ln>
        </p:spPr>
        <p:txBody>
          <a:bodyPr/>
          <a:lstStyle/>
          <a:p>
            <a:endParaRPr lang="en-US"/>
          </a:p>
        </p:txBody>
      </p:sp>
      <p:pic>
        <p:nvPicPr>
          <p:cNvPr id="5" name="Image 0" descr="Failed login detector terminal output"/>
          <p:cNvPicPr>
            <a:picLocks noChangeAspect="1"/>
          </p:cNvPicPr>
          <p:nvPr/>
        </p:nvPicPr>
        <p:blipFill>
          <a:blip r:embed="rId3"/>
          <a:stretch>
            <a:fillRect/>
          </a:stretch>
        </p:blipFill>
        <p:spPr>
          <a:xfrm>
            <a:off x="5760720" y="1463040"/>
            <a:ext cx="5852160" cy="1385806"/>
          </a:xfrm>
          <a:prstGeom prst="rect">
            <a:avLst/>
          </a:prstGeom>
        </p:spPr>
      </p:pic>
      <p:sp>
        <p:nvSpPr>
          <p:cNvPr id="6" name="Text 3"/>
          <p:cNvSpPr txBox="1"/>
          <p:nvPr/>
        </p:nvSpPr>
        <p:spPr>
          <a:xfrm>
            <a:off x="5760720" y="2986006"/>
            <a:ext cx="5852160" cy="274320"/>
          </a:xfrm>
          <a:prstGeom prst="rect">
            <a:avLst/>
          </a:prstGeom>
          <a:noFill/>
          <a:ln/>
        </p:spPr>
        <p:txBody>
          <a:bodyPr wrap="square" lIns="0" tIns="0" rIns="0" bIns="0" rtlCol="0" anchor="t"/>
          <a:lstStyle/>
          <a:p>
            <a:pPr marL="0" indent="0">
              <a:buNone/>
            </a:pPr>
            <a:r>
              <a:rPr lang="en-US" sz="1200" i="1" dirty="0">
                <a:solidFill>
                  <a:schemeClr val="tx2"/>
                </a:solidFill>
              </a:rPr>
              <a:t>Fig. 1: Failed login detector lists failed attempts for users admin and guest and saves an alert file</a:t>
            </a:r>
            <a:endParaRPr lang="en-US" sz="1200" dirty="0"/>
          </a:p>
        </p:txBody>
      </p:sp>
      <p:sp>
        <p:nvSpPr>
          <p:cNvPr id="7" name="Text 4"/>
          <p:cNvSpPr txBox="1"/>
          <p:nvPr/>
        </p:nvSpPr>
        <p:spPr>
          <a:xfrm>
            <a:off x="5760720" y="3657600"/>
            <a:ext cx="5852160" cy="1371600"/>
          </a:xfrm>
          <a:prstGeom prst="rect">
            <a:avLst/>
          </a:prstGeom>
          <a:noFill/>
          <a:ln/>
        </p:spPr>
        <p:txBody>
          <a:bodyPr wrap="square" lIns="0" tIns="0" rIns="0" bIns="0" rtlCol="0" anchor="t"/>
          <a:lstStyle/>
          <a:p>
            <a:pPr marL="0" indent="0">
              <a:spcAft>
                <a:spcPts val="400"/>
              </a:spcAft>
              <a:buNone/>
            </a:pPr>
            <a:r>
              <a:rPr lang="en-US" sz="1700" b="1" dirty="0">
                <a:solidFill>
                  <a:schemeClr val="accent1"/>
                </a:solidFill>
              </a:rPr>
              <a:t>Security feature</a:t>
            </a:r>
            <a:endParaRPr lang="en-US" sz="1700" dirty="0"/>
          </a:p>
          <a:p>
            <a:pPr marL="0" indent="0">
              <a:spcAft>
                <a:spcPts val="400"/>
              </a:spcAft>
              <a:buNone/>
            </a:pPr>
            <a:r>
              <a:rPr lang="en-US" sz="1700" dirty="0">
                <a:solidFill>
                  <a:schemeClr val="tx1"/>
                </a:solidFill>
              </a:rPr>
              <a:t>The detector scans the log for failed-login entries, lists them, and saves the result as an alert file.</a:t>
            </a:r>
            <a:endParaRPr lang="en-US" sz="17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Tools and Technologies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840480"/>
        </p:xfrm>
        <a:graphic>
          <a:graphicData uri="http://schemas.openxmlformats.org/drawingml/2006/table">
            <a:tbl>
              <a:tblPr/>
              <a:tblGrid>
                <a:gridCol w="3840480">
                  <a:extLst>
                    <a:ext uri="{9D8B030D-6E8A-4147-A177-3AD203B41FA5}">
                      <a16:colId xmlns:a16="http://schemas.microsoft.com/office/drawing/2014/main" val="20000"/>
                    </a:ext>
                  </a:extLst>
                </a:gridCol>
                <a:gridCol w="7251192">
                  <a:extLst>
                    <a:ext uri="{9D8B030D-6E8A-4147-A177-3AD203B41FA5}">
                      <a16:colId xmlns:a16="http://schemas.microsoft.com/office/drawing/2014/main" val="20001"/>
                    </a:ext>
                  </a:extLst>
                </a:gridCol>
              </a:tblGrid>
              <a:tr h="640080">
                <a:tc>
                  <a:txBody>
                    <a:bodyPr/>
                    <a:lstStyle/>
                    <a:p>
                      <a:pPr marL="0" indent="0">
                        <a:buNone/>
                      </a:pPr>
                      <a:r>
                        <a:rPr lang="en-US" sz="1600" b="1" dirty="0">
                          <a:solidFill>
                            <a:schemeClr val="bg1"/>
                          </a:solidFill>
                        </a:rPr>
                        <a:t>Technology</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Used for</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600" b="1" dirty="0">
                          <a:solidFill>
                            <a:schemeClr val="tx1"/>
                          </a:solidFill>
                        </a:rPr>
                        <a:t>Ubuntu Linux</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Operating system used to run and test the project</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40080">
                <a:tc>
                  <a:txBody>
                    <a:bodyPr/>
                    <a:lstStyle/>
                    <a:p>
                      <a:pPr marL="0" indent="0">
                        <a:buNone/>
                      </a:pPr>
                      <a:r>
                        <a:rPr lang="en-US" sz="1600" b="1" dirty="0">
                          <a:solidFill>
                            <a:schemeClr val="tx1"/>
                          </a:solidFill>
                        </a:rPr>
                        <a:t>Bash scripting and Linux commands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Terminal menu and scripts for log analysis, search, failed-login detection and alerts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40080">
                <a:tc>
                  <a:txBody>
                    <a:bodyPr/>
                    <a:lstStyle/>
                    <a:p>
                      <a:pPr marL="0" indent="0">
                        <a:buNone/>
                      </a:pPr>
                      <a:r>
                        <a:rPr lang="en-US" sz="1600" b="1" dirty="0">
                          <a:solidFill>
                            <a:schemeClr val="tx1"/>
                          </a:solidFill>
                        </a:rPr>
                        <a:t>Python</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Local HTTP server / API that serves data to the web dashboard</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40080">
                <a:tc>
                  <a:txBody>
                    <a:bodyPr/>
                    <a:lstStyle/>
                    <a:p>
                      <a:pPr marL="0" indent="0">
                        <a:buNone/>
                      </a:pPr>
                      <a:r>
                        <a:rPr lang="en-US" sz="1600" b="1" dirty="0">
                          <a:solidFill>
                            <a:schemeClr val="tx1"/>
                          </a:solidFill>
                        </a:rPr>
                        <a:t>HTML, CSS and JavaScript</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Web dashboard: statistics, search, controls and alert history</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40080">
                <a:tc>
                  <a:txBody>
                    <a:bodyPr/>
                    <a:lstStyle/>
                    <a:p>
                      <a:pPr marL="0" indent="0">
                        <a:buNone/>
                      </a:pPr>
                      <a:r>
                        <a:rPr lang="en-US" sz="1600" b="1" dirty="0">
                          <a:solidFill>
                            <a:schemeClr val="tx1"/>
                          </a:solidFill>
                        </a:rPr>
                        <a:t>VirtualBox</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Virtual machine used as the development environment</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440680"/>
            <a:ext cx="11091672" cy="365760"/>
          </a:xfrm>
          <a:prstGeom prst="rect">
            <a:avLst/>
          </a:prstGeom>
          <a:noFill/>
          <a:ln/>
        </p:spPr>
        <p:txBody>
          <a:bodyPr wrap="square" lIns="0" tIns="0" rIns="0" bIns="0" rtlCol="0" anchor="t"/>
          <a:lstStyle/>
          <a:p>
            <a:pPr marL="0" indent="0">
              <a:buNone/>
            </a:pP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System Architecture</a:t>
            </a:r>
            <a:endParaRPr lang="en-US" sz="3000" dirty="0"/>
          </a:p>
        </p:txBody>
      </p:sp>
      <p:sp>
        <p:nvSpPr>
          <p:cNvPr id="3" name="Shape 1"/>
          <p:cNvSpPr/>
          <p:nvPr/>
        </p:nvSpPr>
        <p:spPr>
          <a:xfrm>
            <a:off x="548640" y="1554480"/>
            <a:ext cx="1965960" cy="2743200"/>
          </a:xfrm>
          <a:prstGeom prst="rect">
            <a:avLst/>
          </a:prstGeom>
          <a:solidFill>
            <a:schemeClr val="bg1"/>
          </a:solidFill>
          <a:ln w="15875">
            <a:solidFill>
              <a:schemeClr val="tx1"/>
            </a:solidFill>
            <a:prstDash val="solid"/>
          </a:ln>
        </p:spPr>
        <p:txBody>
          <a:bodyPr/>
          <a:lstStyle/>
          <a:p>
            <a:endParaRPr lang="en-US"/>
          </a:p>
        </p:txBody>
      </p:sp>
      <p:sp>
        <p:nvSpPr>
          <p:cNvPr id="4" name="Shape 2"/>
          <p:cNvSpPr/>
          <p:nvPr/>
        </p:nvSpPr>
        <p:spPr>
          <a:xfrm>
            <a:off x="548640" y="1554480"/>
            <a:ext cx="1965960" cy="914400"/>
          </a:xfrm>
          <a:prstGeom prst="rect">
            <a:avLst/>
          </a:prstGeom>
          <a:solidFill>
            <a:schemeClr val="tx1"/>
          </a:solidFill>
          <a:ln w="15875">
            <a:solidFill>
              <a:schemeClr val="tx1"/>
            </a:solidFill>
            <a:prstDash val="solid"/>
          </a:ln>
        </p:spPr>
        <p:txBody>
          <a:bodyPr/>
          <a:lstStyle/>
          <a:p>
            <a:endParaRPr lang="en-US"/>
          </a:p>
        </p:txBody>
      </p:sp>
      <p:sp>
        <p:nvSpPr>
          <p:cNvPr id="5" name="Text 3"/>
          <p:cNvSpPr txBox="1"/>
          <p:nvPr/>
        </p:nvSpPr>
        <p:spPr>
          <a:xfrm>
            <a:off x="640080" y="1554480"/>
            <a:ext cx="1783080" cy="914400"/>
          </a:xfrm>
          <a:prstGeom prst="rect">
            <a:avLst/>
          </a:prstGeom>
          <a:noFill/>
          <a:ln/>
        </p:spPr>
        <p:txBody>
          <a:bodyPr wrap="square" lIns="0" tIns="0" rIns="0" bIns="0" rtlCol="0" anchor="ctr"/>
          <a:lstStyle/>
          <a:p>
            <a:pPr marL="0" indent="0" algn="ctr">
              <a:buNone/>
            </a:pPr>
            <a:r>
              <a:rPr lang="en-US" sz="1500" b="1" dirty="0">
                <a:solidFill>
                  <a:schemeClr val="bg1"/>
                </a:solidFill>
              </a:rPr>
              <a:t>Log Sources</a:t>
            </a:r>
            <a:endParaRPr lang="en-US" sz="1500" dirty="0"/>
          </a:p>
        </p:txBody>
      </p:sp>
      <p:sp>
        <p:nvSpPr>
          <p:cNvPr id="6" name="Text 4"/>
          <p:cNvSpPr txBox="1"/>
          <p:nvPr/>
        </p:nvSpPr>
        <p:spPr>
          <a:xfrm>
            <a:off x="658368" y="2651760"/>
            <a:ext cx="1746504" cy="1554480"/>
          </a:xfrm>
          <a:prstGeom prst="rect">
            <a:avLst/>
          </a:prstGeom>
          <a:noFill/>
          <a:ln/>
        </p:spPr>
        <p:txBody>
          <a:bodyPr wrap="square" lIns="0" tIns="0" rIns="0" bIns="0" rtlCol="0" anchor="ctr"/>
          <a:lstStyle/>
          <a:p>
            <a:pPr marL="0" indent="0" algn="ctr">
              <a:spcAft>
                <a:spcPts val="1200"/>
              </a:spcAft>
              <a:buNone/>
            </a:pPr>
            <a:r>
              <a:rPr lang="en-US" sz="1400" dirty="0">
                <a:solidFill>
                  <a:schemeClr val="tx1"/>
                </a:solidFill>
              </a:rPr>
              <a:t>sample.log</a:t>
            </a:r>
            <a:endParaRPr lang="en-US" sz="1400" dirty="0"/>
          </a:p>
          <a:p>
            <a:pPr marL="0" indent="0" algn="ctr">
              <a:spcAft>
                <a:spcPts val="1200"/>
              </a:spcAft>
              <a:buNone/>
            </a:pPr>
            <a:r>
              <a:rPr lang="en-US" sz="1400" dirty="0">
                <a:solidFill>
                  <a:schemeClr val="tx1"/>
                </a:solidFill>
              </a:rPr>
              <a:t>Real Linux system logs</a:t>
            </a:r>
            <a:endParaRPr lang="en-US" sz="1400" dirty="0"/>
          </a:p>
        </p:txBody>
      </p:sp>
      <p:sp>
        <p:nvSpPr>
          <p:cNvPr id="7" name="Shape 5"/>
          <p:cNvSpPr/>
          <p:nvPr/>
        </p:nvSpPr>
        <p:spPr>
          <a:xfrm>
            <a:off x="2551176" y="2926080"/>
            <a:ext cx="242316" cy="0"/>
          </a:xfrm>
          <a:prstGeom prst="line">
            <a:avLst/>
          </a:prstGeom>
          <a:noFill/>
          <a:ln w="25400">
            <a:solidFill>
              <a:schemeClr val="tx1"/>
            </a:solidFill>
            <a:prstDash val="solid"/>
            <a:tailEnd type="triangle"/>
          </a:ln>
        </p:spPr>
        <p:txBody>
          <a:bodyPr/>
          <a:lstStyle/>
          <a:p>
            <a:endParaRPr lang="en-US"/>
          </a:p>
        </p:txBody>
      </p:sp>
      <p:sp>
        <p:nvSpPr>
          <p:cNvPr id="8" name="Shape 6"/>
          <p:cNvSpPr/>
          <p:nvPr/>
        </p:nvSpPr>
        <p:spPr>
          <a:xfrm>
            <a:off x="2830068" y="1554480"/>
            <a:ext cx="1965960" cy="2743200"/>
          </a:xfrm>
          <a:prstGeom prst="rect">
            <a:avLst/>
          </a:prstGeom>
          <a:solidFill>
            <a:schemeClr val="bg1"/>
          </a:solidFill>
          <a:ln w="15875">
            <a:solidFill>
              <a:schemeClr val="tx1"/>
            </a:solidFill>
            <a:prstDash val="solid"/>
          </a:ln>
        </p:spPr>
        <p:txBody>
          <a:bodyPr/>
          <a:lstStyle/>
          <a:p>
            <a:endParaRPr lang="en-US"/>
          </a:p>
        </p:txBody>
      </p:sp>
      <p:sp>
        <p:nvSpPr>
          <p:cNvPr id="9" name="Shape 7"/>
          <p:cNvSpPr/>
          <p:nvPr/>
        </p:nvSpPr>
        <p:spPr>
          <a:xfrm>
            <a:off x="2830068" y="1554480"/>
            <a:ext cx="1965960" cy="914400"/>
          </a:xfrm>
          <a:prstGeom prst="rect">
            <a:avLst/>
          </a:prstGeom>
          <a:solidFill>
            <a:schemeClr val="tx1"/>
          </a:solidFill>
          <a:ln w="15875">
            <a:solidFill>
              <a:schemeClr val="tx1"/>
            </a:solidFill>
            <a:prstDash val="solid"/>
          </a:ln>
        </p:spPr>
        <p:txBody>
          <a:bodyPr/>
          <a:lstStyle/>
          <a:p>
            <a:endParaRPr lang="en-US"/>
          </a:p>
        </p:txBody>
      </p:sp>
      <p:sp>
        <p:nvSpPr>
          <p:cNvPr id="10" name="Text 8"/>
          <p:cNvSpPr txBox="1"/>
          <p:nvPr/>
        </p:nvSpPr>
        <p:spPr>
          <a:xfrm>
            <a:off x="2921508" y="1554480"/>
            <a:ext cx="1783080" cy="914400"/>
          </a:xfrm>
          <a:prstGeom prst="rect">
            <a:avLst/>
          </a:prstGeom>
          <a:noFill/>
          <a:ln/>
        </p:spPr>
        <p:txBody>
          <a:bodyPr wrap="square" lIns="0" tIns="0" rIns="0" bIns="0" rtlCol="0" anchor="ctr"/>
          <a:lstStyle/>
          <a:p>
            <a:pPr marL="0" indent="0" algn="ctr">
              <a:buNone/>
            </a:pPr>
            <a:r>
              <a:rPr lang="en-US" sz="1500" b="1" dirty="0">
                <a:solidFill>
                  <a:schemeClr val="bg1"/>
                </a:solidFill>
              </a:rPr>
              <a:t>Bash Scripts and Python API</a:t>
            </a:r>
            <a:endParaRPr lang="en-US" sz="1500" dirty="0"/>
          </a:p>
        </p:txBody>
      </p:sp>
      <p:sp>
        <p:nvSpPr>
          <p:cNvPr id="11" name="Text 9"/>
          <p:cNvSpPr txBox="1"/>
          <p:nvPr/>
        </p:nvSpPr>
        <p:spPr>
          <a:xfrm>
            <a:off x="2939796" y="2651760"/>
            <a:ext cx="1746504" cy="1554480"/>
          </a:xfrm>
          <a:prstGeom prst="rect">
            <a:avLst/>
          </a:prstGeom>
          <a:noFill/>
          <a:ln/>
        </p:spPr>
        <p:txBody>
          <a:bodyPr wrap="square" lIns="0" tIns="0" rIns="0" bIns="0" rtlCol="0" anchor="ctr"/>
          <a:lstStyle/>
          <a:p>
            <a:pPr marL="0" indent="0" algn="ctr">
              <a:spcAft>
                <a:spcPts val="1200"/>
              </a:spcAft>
              <a:buNone/>
            </a:pPr>
            <a:r>
              <a:rPr lang="en-US" sz="1400" dirty="0">
                <a:solidFill>
                  <a:schemeClr val="tx1"/>
                </a:solidFill>
              </a:rPr>
              <a:t>Bash scripts: menu, analysis</a:t>
            </a:r>
            <a:endParaRPr lang="en-US" sz="1400" dirty="0"/>
          </a:p>
          <a:p>
            <a:pPr marL="0" indent="0" algn="ctr">
              <a:spcAft>
                <a:spcPts val="1200"/>
              </a:spcAft>
              <a:buNone/>
            </a:pPr>
            <a:r>
              <a:rPr lang="en-US" sz="1400" dirty="0">
                <a:solidFill>
                  <a:schemeClr val="tx1"/>
                </a:solidFill>
              </a:rPr>
              <a:t>Python: local HTTP server</a:t>
            </a:r>
            <a:endParaRPr lang="en-US" sz="1400" dirty="0"/>
          </a:p>
        </p:txBody>
      </p:sp>
      <p:sp>
        <p:nvSpPr>
          <p:cNvPr id="12" name="Shape 10"/>
          <p:cNvSpPr/>
          <p:nvPr/>
        </p:nvSpPr>
        <p:spPr>
          <a:xfrm>
            <a:off x="4832604" y="2926080"/>
            <a:ext cx="242316" cy="0"/>
          </a:xfrm>
          <a:prstGeom prst="line">
            <a:avLst/>
          </a:prstGeom>
          <a:noFill/>
          <a:ln w="25400">
            <a:solidFill>
              <a:schemeClr val="tx1"/>
            </a:solidFill>
            <a:prstDash val="solid"/>
            <a:tailEnd type="triangle"/>
          </a:ln>
        </p:spPr>
        <p:txBody>
          <a:bodyPr/>
          <a:lstStyle/>
          <a:p>
            <a:endParaRPr lang="en-US"/>
          </a:p>
        </p:txBody>
      </p:sp>
      <p:sp>
        <p:nvSpPr>
          <p:cNvPr id="13" name="Shape 11"/>
          <p:cNvSpPr/>
          <p:nvPr/>
        </p:nvSpPr>
        <p:spPr>
          <a:xfrm>
            <a:off x="5111496" y="1554480"/>
            <a:ext cx="1965960" cy="2743200"/>
          </a:xfrm>
          <a:prstGeom prst="rect">
            <a:avLst/>
          </a:prstGeom>
          <a:solidFill>
            <a:schemeClr val="bg1"/>
          </a:solidFill>
          <a:ln w="15875">
            <a:solidFill>
              <a:schemeClr val="tx1"/>
            </a:solidFill>
            <a:prstDash val="solid"/>
          </a:ln>
        </p:spPr>
        <p:txBody>
          <a:bodyPr/>
          <a:lstStyle/>
          <a:p>
            <a:endParaRPr lang="en-US"/>
          </a:p>
        </p:txBody>
      </p:sp>
      <p:sp>
        <p:nvSpPr>
          <p:cNvPr id="14" name="Shape 12"/>
          <p:cNvSpPr/>
          <p:nvPr/>
        </p:nvSpPr>
        <p:spPr>
          <a:xfrm>
            <a:off x="5111496" y="1554480"/>
            <a:ext cx="1965960" cy="914400"/>
          </a:xfrm>
          <a:prstGeom prst="rect">
            <a:avLst/>
          </a:prstGeom>
          <a:solidFill>
            <a:schemeClr val="tx1"/>
          </a:solidFill>
          <a:ln w="15875">
            <a:solidFill>
              <a:schemeClr val="tx1"/>
            </a:solidFill>
            <a:prstDash val="solid"/>
          </a:ln>
        </p:spPr>
        <p:txBody>
          <a:bodyPr/>
          <a:lstStyle/>
          <a:p>
            <a:endParaRPr lang="en-US"/>
          </a:p>
        </p:txBody>
      </p:sp>
      <p:sp>
        <p:nvSpPr>
          <p:cNvPr id="15" name="Text 13"/>
          <p:cNvSpPr txBox="1"/>
          <p:nvPr/>
        </p:nvSpPr>
        <p:spPr>
          <a:xfrm>
            <a:off x="5202936" y="1554480"/>
            <a:ext cx="1783080" cy="914400"/>
          </a:xfrm>
          <a:prstGeom prst="rect">
            <a:avLst/>
          </a:prstGeom>
          <a:noFill/>
          <a:ln/>
        </p:spPr>
        <p:txBody>
          <a:bodyPr wrap="square" lIns="0" tIns="0" rIns="0" bIns="0" rtlCol="0" anchor="ctr"/>
          <a:lstStyle/>
          <a:p>
            <a:pPr marL="0" indent="0" algn="ctr">
              <a:buNone/>
            </a:pPr>
            <a:r>
              <a:rPr lang="en-US" sz="1500" b="1" dirty="0">
                <a:solidFill>
                  <a:schemeClr val="bg1"/>
                </a:solidFill>
              </a:rPr>
              <a:t>Log Analysis and Event Detection</a:t>
            </a:r>
            <a:endParaRPr lang="en-US" sz="1500" dirty="0"/>
          </a:p>
        </p:txBody>
      </p:sp>
      <p:sp>
        <p:nvSpPr>
          <p:cNvPr id="16" name="Text 14"/>
          <p:cNvSpPr txBox="1"/>
          <p:nvPr/>
        </p:nvSpPr>
        <p:spPr>
          <a:xfrm>
            <a:off x="5221224" y="2651760"/>
            <a:ext cx="1746504" cy="1554480"/>
          </a:xfrm>
          <a:prstGeom prst="rect">
            <a:avLst/>
          </a:prstGeom>
          <a:noFill/>
          <a:ln/>
        </p:spPr>
        <p:txBody>
          <a:bodyPr wrap="square" lIns="0" tIns="0" rIns="0" bIns="0" rtlCol="0" anchor="ctr"/>
          <a:lstStyle/>
          <a:p>
            <a:pPr marL="0" indent="0" algn="ctr">
              <a:spcAft>
                <a:spcPts val="1200"/>
              </a:spcAft>
              <a:buNone/>
            </a:pPr>
            <a:r>
              <a:rPr lang="en-US" sz="1400" dirty="0">
                <a:solidFill>
                  <a:schemeClr val="tx1"/>
                </a:solidFill>
              </a:rPr>
              <a:t>Count entries</a:t>
            </a:r>
            <a:endParaRPr lang="en-US" sz="1400" dirty="0"/>
          </a:p>
          <a:p>
            <a:pPr marL="0" indent="0" algn="ctr">
              <a:spcAft>
                <a:spcPts val="1200"/>
              </a:spcAft>
              <a:buNone/>
            </a:pPr>
            <a:r>
              <a:rPr lang="en-US" sz="1400" dirty="0">
                <a:solidFill>
                  <a:schemeClr val="tx1"/>
                </a:solidFill>
              </a:rPr>
              <a:t>Find ERROR, CRITICAL and failed logins</a:t>
            </a:r>
            <a:endParaRPr lang="en-US" sz="1400" dirty="0"/>
          </a:p>
        </p:txBody>
      </p:sp>
      <p:sp>
        <p:nvSpPr>
          <p:cNvPr id="17" name="Shape 15"/>
          <p:cNvSpPr/>
          <p:nvPr/>
        </p:nvSpPr>
        <p:spPr>
          <a:xfrm>
            <a:off x="7114032" y="2926080"/>
            <a:ext cx="242316" cy="0"/>
          </a:xfrm>
          <a:prstGeom prst="line">
            <a:avLst/>
          </a:prstGeom>
          <a:noFill/>
          <a:ln w="25400">
            <a:solidFill>
              <a:schemeClr val="tx1"/>
            </a:solidFill>
            <a:prstDash val="solid"/>
            <a:tailEnd type="triangle"/>
          </a:ln>
        </p:spPr>
        <p:txBody>
          <a:bodyPr/>
          <a:lstStyle/>
          <a:p>
            <a:endParaRPr lang="en-US"/>
          </a:p>
        </p:txBody>
      </p:sp>
      <p:sp>
        <p:nvSpPr>
          <p:cNvPr id="18" name="Shape 16"/>
          <p:cNvSpPr/>
          <p:nvPr/>
        </p:nvSpPr>
        <p:spPr>
          <a:xfrm>
            <a:off x="7392924" y="1554480"/>
            <a:ext cx="1965960" cy="2743200"/>
          </a:xfrm>
          <a:prstGeom prst="rect">
            <a:avLst/>
          </a:prstGeom>
          <a:solidFill>
            <a:schemeClr val="bg1"/>
          </a:solidFill>
          <a:ln w="15875">
            <a:solidFill>
              <a:schemeClr val="tx1"/>
            </a:solidFill>
            <a:prstDash val="solid"/>
          </a:ln>
        </p:spPr>
        <p:txBody>
          <a:bodyPr/>
          <a:lstStyle/>
          <a:p>
            <a:endParaRPr lang="en-US"/>
          </a:p>
        </p:txBody>
      </p:sp>
      <p:sp>
        <p:nvSpPr>
          <p:cNvPr id="19" name="Shape 17"/>
          <p:cNvSpPr/>
          <p:nvPr/>
        </p:nvSpPr>
        <p:spPr>
          <a:xfrm>
            <a:off x="7392924" y="1554480"/>
            <a:ext cx="1965960" cy="914400"/>
          </a:xfrm>
          <a:prstGeom prst="rect">
            <a:avLst/>
          </a:prstGeom>
          <a:solidFill>
            <a:schemeClr val="tx1"/>
          </a:solidFill>
          <a:ln w="15875">
            <a:solidFill>
              <a:schemeClr val="tx1"/>
            </a:solidFill>
            <a:prstDash val="solid"/>
          </a:ln>
        </p:spPr>
        <p:txBody>
          <a:bodyPr/>
          <a:lstStyle/>
          <a:p>
            <a:endParaRPr lang="en-US"/>
          </a:p>
        </p:txBody>
      </p:sp>
      <p:sp>
        <p:nvSpPr>
          <p:cNvPr id="20" name="Text 18"/>
          <p:cNvSpPr txBox="1"/>
          <p:nvPr/>
        </p:nvSpPr>
        <p:spPr>
          <a:xfrm>
            <a:off x="7484364" y="1554480"/>
            <a:ext cx="1783080" cy="914400"/>
          </a:xfrm>
          <a:prstGeom prst="rect">
            <a:avLst/>
          </a:prstGeom>
          <a:noFill/>
          <a:ln/>
        </p:spPr>
        <p:txBody>
          <a:bodyPr wrap="square" lIns="0" tIns="0" rIns="0" bIns="0" rtlCol="0" anchor="ctr"/>
          <a:lstStyle/>
          <a:p>
            <a:pPr marL="0" indent="0" algn="ctr">
              <a:buNone/>
            </a:pPr>
            <a:r>
              <a:rPr lang="en-US" sz="1500" b="1" dirty="0">
                <a:solidFill>
                  <a:schemeClr val="bg1"/>
                </a:solidFill>
              </a:rPr>
              <a:t>Alert and Report Generation</a:t>
            </a:r>
            <a:endParaRPr lang="en-US" sz="1500" dirty="0"/>
          </a:p>
        </p:txBody>
      </p:sp>
      <p:sp>
        <p:nvSpPr>
          <p:cNvPr id="21" name="Text 19"/>
          <p:cNvSpPr txBox="1"/>
          <p:nvPr/>
        </p:nvSpPr>
        <p:spPr>
          <a:xfrm>
            <a:off x="7502652" y="2651760"/>
            <a:ext cx="1746504" cy="1554480"/>
          </a:xfrm>
          <a:prstGeom prst="rect">
            <a:avLst/>
          </a:prstGeom>
          <a:noFill/>
          <a:ln/>
        </p:spPr>
        <p:txBody>
          <a:bodyPr wrap="square" lIns="0" tIns="0" rIns="0" bIns="0" rtlCol="0" anchor="ctr"/>
          <a:lstStyle/>
          <a:p>
            <a:pPr marL="0" indent="0" algn="ctr">
              <a:spcAft>
                <a:spcPts val="1200"/>
              </a:spcAft>
              <a:buNone/>
            </a:pPr>
            <a:r>
              <a:rPr lang="en-US" sz="1400" dirty="0">
                <a:solidFill>
                  <a:schemeClr val="tx1"/>
                </a:solidFill>
              </a:rPr>
              <a:t>Alert files</a:t>
            </a:r>
            <a:endParaRPr lang="en-US" sz="1400" dirty="0"/>
          </a:p>
          <a:p>
            <a:pPr marL="0" indent="0" algn="ctr">
              <a:spcAft>
                <a:spcPts val="1200"/>
              </a:spcAft>
              <a:buNone/>
            </a:pPr>
            <a:r>
              <a:rPr lang="en-US" sz="1400" dirty="0">
                <a:solidFill>
                  <a:schemeClr val="tx1"/>
                </a:solidFill>
              </a:rPr>
              <a:t>Summary report</a:t>
            </a:r>
            <a:endParaRPr lang="en-US" sz="1400" dirty="0"/>
          </a:p>
        </p:txBody>
      </p:sp>
      <p:sp>
        <p:nvSpPr>
          <p:cNvPr id="22" name="Shape 20"/>
          <p:cNvSpPr/>
          <p:nvPr/>
        </p:nvSpPr>
        <p:spPr>
          <a:xfrm>
            <a:off x="9395460" y="2926080"/>
            <a:ext cx="242316" cy="0"/>
          </a:xfrm>
          <a:prstGeom prst="line">
            <a:avLst/>
          </a:prstGeom>
          <a:noFill/>
          <a:ln w="25400">
            <a:solidFill>
              <a:schemeClr val="tx1"/>
            </a:solidFill>
            <a:prstDash val="solid"/>
            <a:tailEnd type="triangle"/>
          </a:ln>
        </p:spPr>
        <p:txBody>
          <a:bodyPr/>
          <a:lstStyle/>
          <a:p>
            <a:endParaRPr lang="en-US"/>
          </a:p>
        </p:txBody>
      </p:sp>
      <p:sp>
        <p:nvSpPr>
          <p:cNvPr id="23" name="Shape 21"/>
          <p:cNvSpPr/>
          <p:nvPr/>
        </p:nvSpPr>
        <p:spPr>
          <a:xfrm>
            <a:off x="9674352" y="1554480"/>
            <a:ext cx="1965960" cy="2743200"/>
          </a:xfrm>
          <a:prstGeom prst="rect">
            <a:avLst/>
          </a:prstGeom>
          <a:solidFill>
            <a:schemeClr val="bg1"/>
          </a:solidFill>
          <a:ln w="15875">
            <a:solidFill>
              <a:schemeClr val="tx1"/>
            </a:solidFill>
            <a:prstDash val="solid"/>
          </a:ln>
        </p:spPr>
        <p:txBody>
          <a:bodyPr/>
          <a:lstStyle/>
          <a:p>
            <a:endParaRPr lang="en-US"/>
          </a:p>
        </p:txBody>
      </p:sp>
      <p:sp>
        <p:nvSpPr>
          <p:cNvPr id="24" name="Shape 22"/>
          <p:cNvSpPr/>
          <p:nvPr/>
        </p:nvSpPr>
        <p:spPr>
          <a:xfrm>
            <a:off x="9674352" y="1554480"/>
            <a:ext cx="1965960" cy="914400"/>
          </a:xfrm>
          <a:prstGeom prst="rect">
            <a:avLst/>
          </a:prstGeom>
          <a:solidFill>
            <a:schemeClr val="tx1"/>
          </a:solidFill>
          <a:ln w="15875">
            <a:solidFill>
              <a:schemeClr val="tx1"/>
            </a:solidFill>
            <a:prstDash val="solid"/>
          </a:ln>
        </p:spPr>
        <p:txBody>
          <a:bodyPr/>
          <a:lstStyle/>
          <a:p>
            <a:endParaRPr lang="en-US"/>
          </a:p>
        </p:txBody>
      </p:sp>
      <p:sp>
        <p:nvSpPr>
          <p:cNvPr id="25" name="Text 23"/>
          <p:cNvSpPr txBox="1"/>
          <p:nvPr/>
        </p:nvSpPr>
        <p:spPr>
          <a:xfrm>
            <a:off x="9765792" y="1554480"/>
            <a:ext cx="1783080" cy="914400"/>
          </a:xfrm>
          <a:prstGeom prst="rect">
            <a:avLst/>
          </a:prstGeom>
          <a:noFill/>
          <a:ln/>
        </p:spPr>
        <p:txBody>
          <a:bodyPr wrap="square" lIns="0" tIns="0" rIns="0" bIns="0" rtlCol="0" anchor="ctr"/>
          <a:lstStyle/>
          <a:p>
            <a:pPr marL="0" indent="0" algn="ctr">
              <a:buNone/>
            </a:pPr>
            <a:r>
              <a:rPr lang="en-US" sz="1500" b="1" dirty="0">
                <a:solidFill>
                  <a:schemeClr val="bg1"/>
                </a:solidFill>
              </a:rPr>
              <a:t>Terminal Interface and Web Dashboard</a:t>
            </a:r>
            <a:endParaRPr lang="en-US" sz="1500" dirty="0"/>
          </a:p>
        </p:txBody>
      </p:sp>
      <p:sp>
        <p:nvSpPr>
          <p:cNvPr id="26" name="Text 24"/>
          <p:cNvSpPr txBox="1"/>
          <p:nvPr/>
        </p:nvSpPr>
        <p:spPr>
          <a:xfrm>
            <a:off x="9784080" y="2651760"/>
            <a:ext cx="1746504" cy="1554480"/>
          </a:xfrm>
          <a:prstGeom prst="rect">
            <a:avLst/>
          </a:prstGeom>
          <a:noFill/>
          <a:ln/>
        </p:spPr>
        <p:txBody>
          <a:bodyPr wrap="square" lIns="0" tIns="0" rIns="0" bIns="0" rtlCol="0" anchor="ctr"/>
          <a:lstStyle/>
          <a:p>
            <a:pPr marL="0" indent="0" algn="ctr">
              <a:spcAft>
                <a:spcPts val="1200"/>
              </a:spcAft>
              <a:buNone/>
            </a:pPr>
            <a:r>
              <a:rPr lang="en-US" sz="1400" dirty="0">
                <a:solidFill>
                  <a:schemeClr val="tx1"/>
                </a:solidFill>
              </a:rPr>
              <a:t>Menu-driven terminal</a:t>
            </a:r>
            <a:endParaRPr lang="en-US" sz="1400" dirty="0"/>
          </a:p>
          <a:p>
            <a:pPr marL="0" indent="0" algn="ctr">
              <a:spcAft>
                <a:spcPts val="1200"/>
              </a:spcAft>
              <a:buNone/>
            </a:pPr>
            <a:r>
              <a:rPr lang="en-US" sz="1400" dirty="0">
                <a:solidFill>
                  <a:schemeClr val="tx1"/>
                </a:solidFill>
              </a:rPr>
              <a:t>Local web dashboard</a:t>
            </a:r>
            <a:endParaRPr lang="en-US" sz="1400" dirty="0"/>
          </a:p>
        </p:txBody>
      </p:sp>
      <p:sp>
        <p:nvSpPr>
          <p:cNvPr id="27" name="Text 25"/>
          <p:cNvSpPr txBox="1"/>
          <p:nvPr/>
        </p:nvSpPr>
        <p:spPr>
          <a:xfrm>
            <a:off x="548640" y="4754880"/>
            <a:ext cx="11091672" cy="1280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Bash scripts provide the terminal menu and the log analysis; a Python script serves data to the dashboard over local HTTP.</a:t>
            </a:r>
            <a:endParaRPr lang="en-US" sz="1700" dirty="0"/>
          </a:p>
          <a:p>
            <a:pPr marL="342900" indent="-342900">
              <a:spcAft>
                <a:spcPts val="800"/>
              </a:spcAft>
              <a:buSzPct val="100000"/>
              <a:buChar char="•"/>
            </a:pPr>
            <a:r>
              <a:rPr lang="en-US" sz="1700" dirty="0">
                <a:solidFill>
                  <a:schemeClr val="tx1"/>
                </a:solidFill>
              </a:rPr>
              <a:t>No database is used: logs and alerts are stored as plain files.</a:t>
            </a:r>
            <a:endParaRPr lang="en-US" sz="1700" dirty="0"/>
          </a:p>
        </p:txBody>
      </p:sp>
      <p:sp>
        <p:nvSpPr>
          <p:cNvPr id="28"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Monitoring Workflow</a:t>
            </a:r>
            <a:endParaRPr lang="en-US" sz="3000" dirty="0"/>
          </a:p>
        </p:txBody>
      </p:sp>
      <p:sp>
        <p:nvSpPr>
          <p:cNvPr id="3" name="Shape 1"/>
          <p:cNvSpPr/>
          <p:nvPr/>
        </p:nvSpPr>
        <p:spPr>
          <a:xfrm>
            <a:off x="548640" y="1371600"/>
            <a:ext cx="4480560" cy="621792"/>
          </a:xfrm>
          <a:prstGeom prst="rect">
            <a:avLst/>
          </a:prstGeom>
          <a:solidFill>
            <a:schemeClr val="bg1"/>
          </a:solidFill>
          <a:ln w="15875">
            <a:solidFill>
              <a:schemeClr val="tx1"/>
            </a:solidFill>
            <a:prstDash val="solid"/>
          </a:ln>
        </p:spPr>
        <p:txBody>
          <a:bodyPr/>
          <a:lstStyle/>
          <a:p>
            <a:endParaRPr lang="en-US"/>
          </a:p>
        </p:txBody>
      </p:sp>
      <p:sp>
        <p:nvSpPr>
          <p:cNvPr id="4" name="Text 2"/>
          <p:cNvSpPr txBox="1"/>
          <p:nvPr/>
        </p:nvSpPr>
        <p:spPr>
          <a:xfrm>
            <a:off x="685800" y="1371600"/>
            <a:ext cx="4251960" cy="621792"/>
          </a:xfrm>
          <a:prstGeom prst="rect">
            <a:avLst/>
          </a:prstGeom>
          <a:noFill/>
          <a:ln/>
        </p:spPr>
        <p:txBody>
          <a:bodyPr wrap="square" lIns="0" tIns="0" rIns="0" bIns="0" rtlCol="0" anchor="ctr"/>
          <a:lstStyle/>
          <a:p>
            <a:pPr marL="0" indent="0">
              <a:buNone/>
            </a:pPr>
            <a:r>
              <a:rPr lang="en-US" sz="1500" b="1" dirty="0">
                <a:solidFill>
                  <a:schemeClr val="tx1"/>
                </a:solidFill>
              </a:rPr>
              <a:t>1.  Read the log source</a:t>
            </a:r>
            <a:endParaRPr lang="en-US" sz="1500" dirty="0"/>
          </a:p>
        </p:txBody>
      </p:sp>
      <p:sp>
        <p:nvSpPr>
          <p:cNvPr id="5" name="Shape 3"/>
          <p:cNvSpPr/>
          <p:nvPr/>
        </p:nvSpPr>
        <p:spPr>
          <a:xfrm>
            <a:off x="2788920" y="2011680"/>
            <a:ext cx="0" cy="237744"/>
          </a:xfrm>
          <a:prstGeom prst="line">
            <a:avLst/>
          </a:prstGeom>
          <a:noFill/>
          <a:ln w="25400">
            <a:solidFill>
              <a:schemeClr val="tx1"/>
            </a:solidFill>
            <a:prstDash val="solid"/>
            <a:tailEnd type="triangle"/>
          </a:ln>
        </p:spPr>
        <p:txBody>
          <a:bodyPr/>
          <a:lstStyle/>
          <a:p>
            <a:endParaRPr lang="en-US"/>
          </a:p>
        </p:txBody>
      </p:sp>
      <p:sp>
        <p:nvSpPr>
          <p:cNvPr id="6" name="Shape 4"/>
          <p:cNvSpPr/>
          <p:nvPr/>
        </p:nvSpPr>
        <p:spPr>
          <a:xfrm>
            <a:off x="548640" y="2267712"/>
            <a:ext cx="4480560" cy="621792"/>
          </a:xfrm>
          <a:prstGeom prst="rect">
            <a:avLst/>
          </a:prstGeom>
          <a:solidFill>
            <a:schemeClr val="bg1"/>
          </a:solidFill>
          <a:ln w="15875">
            <a:solidFill>
              <a:schemeClr val="tx1"/>
            </a:solidFill>
            <a:prstDash val="solid"/>
          </a:ln>
        </p:spPr>
        <p:txBody>
          <a:bodyPr/>
          <a:lstStyle/>
          <a:p>
            <a:endParaRPr lang="en-US"/>
          </a:p>
        </p:txBody>
      </p:sp>
      <p:sp>
        <p:nvSpPr>
          <p:cNvPr id="7" name="Text 5"/>
          <p:cNvSpPr txBox="1"/>
          <p:nvPr/>
        </p:nvSpPr>
        <p:spPr>
          <a:xfrm>
            <a:off x="685800" y="2267712"/>
            <a:ext cx="4251960" cy="621792"/>
          </a:xfrm>
          <a:prstGeom prst="rect">
            <a:avLst/>
          </a:prstGeom>
          <a:noFill/>
          <a:ln/>
        </p:spPr>
        <p:txBody>
          <a:bodyPr wrap="square" lIns="0" tIns="0" rIns="0" bIns="0" rtlCol="0" anchor="ctr"/>
          <a:lstStyle/>
          <a:p>
            <a:pPr marL="0" indent="0">
              <a:buNone/>
            </a:pPr>
            <a:r>
              <a:rPr lang="en-US" sz="1500" b="1" dirty="0">
                <a:solidFill>
                  <a:schemeClr val="tx1"/>
                </a:solidFill>
              </a:rPr>
              <a:t>2.  Process and inspect log entries</a:t>
            </a:r>
            <a:endParaRPr lang="en-US" sz="1500" dirty="0"/>
          </a:p>
        </p:txBody>
      </p:sp>
      <p:sp>
        <p:nvSpPr>
          <p:cNvPr id="8" name="Shape 6"/>
          <p:cNvSpPr/>
          <p:nvPr/>
        </p:nvSpPr>
        <p:spPr>
          <a:xfrm>
            <a:off x="2788920" y="2907792"/>
            <a:ext cx="0" cy="237744"/>
          </a:xfrm>
          <a:prstGeom prst="line">
            <a:avLst/>
          </a:prstGeom>
          <a:noFill/>
          <a:ln w="25400">
            <a:solidFill>
              <a:schemeClr val="tx1"/>
            </a:solidFill>
            <a:prstDash val="solid"/>
            <a:tailEnd type="triangle"/>
          </a:ln>
        </p:spPr>
        <p:txBody>
          <a:bodyPr/>
          <a:lstStyle/>
          <a:p>
            <a:endParaRPr lang="en-US"/>
          </a:p>
        </p:txBody>
      </p:sp>
      <p:sp>
        <p:nvSpPr>
          <p:cNvPr id="9" name="Shape 7"/>
          <p:cNvSpPr/>
          <p:nvPr/>
        </p:nvSpPr>
        <p:spPr>
          <a:xfrm>
            <a:off x="548640" y="3163824"/>
            <a:ext cx="4480560" cy="621792"/>
          </a:xfrm>
          <a:prstGeom prst="rect">
            <a:avLst/>
          </a:prstGeom>
          <a:solidFill>
            <a:schemeClr val="bg1"/>
          </a:solidFill>
          <a:ln w="15875">
            <a:solidFill>
              <a:schemeClr val="tx1"/>
            </a:solidFill>
            <a:prstDash val="solid"/>
          </a:ln>
        </p:spPr>
        <p:txBody>
          <a:bodyPr/>
          <a:lstStyle/>
          <a:p>
            <a:endParaRPr lang="en-US"/>
          </a:p>
        </p:txBody>
      </p:sp>
      <p:sp>
        <p:nvSpPr>
          <p:cNvPr id="10" name="Text 8"/>
          <p:cNvSpPr txBox="1"/>
          <p:nvPr/>
        </p:nvSpPr>
        <p:spPr>
          <a:xfrm>
            <a:off x="685800" y="3163824"/>
            <a:ext cx="4251960" cy="621792"/>
          </a:xfrm>
          <a:prstGeom prst="rect">
            <a:avLst/>
          </a:prstGeom>
          <a:noFill/>
          <a:ln/>
        </p:spPr>
        <p:txBody>
          <a:bodyPr wrap="square" lIns="0" tIns="0" rIns="0" bIns="0" rtlCol="0" anchor="ctr"/>
          <a:lstStyle/>
          <a:p>
            <a:pPr marL="0" indent="0">
              <a:buNone/>
            </a:pPr>
            <a:r>
              <a:rPr lang="en-US" sz="1500" b="1" dirty="0">
                <a:solidFill>
                  <a:schemeClr val="tx1"/>
                </a:solidFill>
              </a:rPr>
              <a:t>3.  Identify error, critical or failed-login events</a:t>
            </a:r>
            <a:endParaRPr lang="en-US" sz="1500" dirty="0"/>
          </a:p>
        </p:txBody>
      </p:sp>
      <p:sp>
        <p:nvSpPr>
          <p:cNvPr id="11" name="Shape 9"/>
          <p:cNvSpPr/>
          <p:nvPr/>
        </p:nvSpPr>
        <p:spPr>
          <a:xfrm>
            <a:off x="2788920" y="3803904"/>
            <a:ext cx="0" cy="237744"/>
          </a:xfrm>
          <a:prstGeom prst="line">
            <a:avLst/>
          </a:prstGeom>
          <a:noFill/>
          <a:ln w="25400">
            <a:solidFill>
              <a:schemeClr val="tx1"/>
            </a:solidFill>
            <a:prstDash val="solid"/>
            <a:tailEnd type="triangle"/>
          </a:ln>
        </p:spPr>
        <p:txBody>
          <a:bodyPr/>
          <a:lstStyle/>
          <a:p>
            <a:endParaRPr lang="en-US"/>
          </a:p>
        </p:txBody>
      </p:sp>
      <p:sp>
        <p:nvSpPr>
          <p:cNvPr id="12" name="Shape 10"/>
          <p:cNvSpPr/>
          <p:nvPr/>
        </p:nvSpPr>
        <p:spPr>
          <a:xfrm>
            <a:off x="548640" y="4059936"/>
            <a:ext cx="4480560" cy="621792"/>
          </a:xfrm>
          <a:prstGeom prst="rect">
            <a:avLst/>
          </a:prstGeom>
          <a:solidFill>
            <a:schemeClr val="bg1"/>
          </a:solidFill>
          <a:ln w="15875">
            <a:solidFill>
              <a:schemeClr val="tx1"/>
            </a:solidFill>
            <a:prstDash val="solid"/>
          </a:ln>
        </p:spPr>
        <p:txBody>
          <a:bodyPr/>
          <a:lstStyle/>
          <a:p>
            <a:endParaRPr lang="en-US"/>
          </a:p>
        </p:txBody>
      </p:sp>
      <p:sp>
        <p:nvSpPr>
          <p:cNvPr id="13" name="Text 11"/>
          <p:cNvSpPr txBox="1"/>
          <p:nvPr/>
        </p:nvSpPr>
        <p:spPr>
          <a:xfrm>
            <a:off x="685800" y="4059936"/>
            <a:ext cx="4251960" cy="621792"/>
          </a:xfrm>
          <a:prstGeom prst="rect">
            <a:avLst/>
          </a:prstGeom>
          <a:noFill/>
          <a:ln/>
        </p:spPr>
        <p:txBody>
          <a:bodyPr wrap="square" lIns="0" tIns="0" rIns="0" bIns="0" rtlCol="0" anchor="ctr"/>
          <a:lstStyle/>
          <a:p>
            <a:pPr marL="0" indent="0">
              <a:buNone/>
            </a:pPr>
            <a:r>
              <a:rPr lang="en-US" sz="1500" b="1" dirty="0">
                <a:solidFill>
                  <a:schemeClr val="tx1"/>
                </a:solidFill>
              </a:rPr>
              <a:t>4.  Generate and save alerts</a:t>
            </a:r>
            <a:endParaRPr lang="en-US" sz="1500" dirty="0"/>
          </a:p>
        </p:txBody>
      </p:sp>
      <p:sp>
        <p:nvSpPr>
          <p:cNvPr id="14" name="Shape 12"/>
          <p:cNvSpPr/>
          <p:nvPr/>
        </p:nvSpPr>
        <p:spPr>
          <a:xfrm>
            <a:off x="2788920" y="4700016"/>
            <a:ext cx="0" cy="237744"/>
          </a:xfrm>
          <a:prstGeom prst="line">
            <a:avLst/>
          </a:prstGeom>
          <a:noFill/>
          <a:ln w="25400">
            <a:solidFill>
              <a:schemeClr val="tx1"/>
            </a:solidFill>
            <a:prstDash val="solid"/>
            <a:tailEnd type="triangle"/>
          </a:ln>
        </p:spPr>
        <p:txBody>
          <a:bodyPr/>
          <a:lstStyle/>
          <a:p>
            <a:endParaRPr lang="en-US"/>
          </a:p>
        </p:txBody>
      </p:sp>
      <p:sp>
        <p:nvSpPr>
          <p:cNvPr id="15" name="Shape 13"/>
          <p:cNvSpPr/>
          <p:nvPr/>
        </p:nvSpPr>
        <p:spPr>
          <a:xfrm>
            <a:off x="548640" y="4956048"/>
            <a:ext cx="4480560" cy="621792"/>
          </a:xfrm>
          <a:prstGeom prst="rect">
            <a:avLst/>
          </a:prstGeom>
          <a:solidFill>
            <a:schemeClr val="bg1"/>
          </a:solidFill>
          <a:ln w="15875">
            <a:solidFill>
              <a:schemeClr val="tx1"/>
            </a:solidFill>
            <a:prstDash val="solid"/>
          </a:ln>
        </p:spPr>
        <p:txBody>
          <a:bodyPr/>
          <a:lstStyle/>
          <a:p>
            <a:endParaRPr lang="en-US"/>
          </a:p>
        </p:txBody>
      </p:sp>
      <p:sp>
        <p:nvSpPr>
          <p:cNvPr id="16" name="Text 14"/>
          <p:cNvSpPr txBox="1"/>
          <p:nvPr/>
        </p:nvSpPr>
        <p:spPr>
          <a:xfrm>
            <a:off x="685800" y="4956048"/>
            <a:ext cx="4251960" cy="621792"/>
          </a:xfrm>
          <a:prstGeom prst="rect">
            <a:avLst/>
          </a:prstGeom>
          <a:noFill/>
          <a:ln/>
        </p:spPr>
        <p:txBody>
          <a:bodyPr wrap="square" lIns="0" tIns="0" rIns="0" bIns="0" rtlCol="0" anchor="ctr"/>
          <a:lstStyle/>
          <a:p>
            <a:pPr marL="0" indent="0">
              <a:buNone/>
            </a:pPr>
            <a:r>
              <a:rPr lang="en-US" sz="1500" b="1" dirty="0">
                <a:solidFill>
                  <a:schemeClr val="tx1"/>
                </a:solidFill>
              </a:rPr>
              <a:t>5.  Display results in terminal or dashboard</a:t>
            </a:r>
            <a:endParaRPr lang="en-US" sz="1500" dirty="0"/>
          </a:p>
        </p:txBody>
      </p:sp>
      <p:sp>
        <p:nvSpPr>
          <p:cNvPr id="17" name="Shape 15"/>
          <p:cNvSpPr/>
          <p:nvPr/>
        </p:nvSpPr>
        <p:spPr>
          <a:xfrm>
            <a:off x="5541264" y="1426464"/>
            <a:ext cx="6108192" cy="1568560"/>
          </a:xfrm>
          <a:prstGeom prst="rect">
            <a:avLst/>
          </a:prstGeom>
          <a:solidFill>
            <a:schemeClr val="bg1"/>
          </a:solidFill>
          <a:ln w="12700">
            <a:solidFill>
              <a:schemeClr val="tx2"/>
            </a:solidFill>
            <a:prstDash val="solid"/>
          </a:ln>
        </p:spPr>
        <p:txBody>
          <a:bodyPr/>
          <a:lstStyle/>
          <a:p>
            <a:endParaRPr lang="en-US"/>
          </a:p>
        </p:txBody>
      </p:sp>
      <p:pic>
        <p:nvPicPr>
          <p:cNvPr id="18" name="Image 0" descr="Automatic log monitor detecting a test ERROR alert"/>
          <p:cNvPicPr>
            <a:picLocks noChangeAspect="1"/>
          </p:cNvPicPr>
          <p:nvPr/>
        </p:nvPicPr>
        <p:blipFill>
          <a:blip r:embed="rId3"/>
          <a:stretch>
            <a:fillRect/>
          </a:stretch>
        </p:blipFill>
        <p:spPr>
          <a:xfrm>
            <a:off x="5577840" y="1463040"/>
            <a:ext cx="6035040" cy="1495408"/>
          </a:xfrm>
          <a:prstGeom prst="rect">
            <a:avLst/>
          </a:prstGeom>
        </p:spPr>
      </p:pic>
      <p:sp>
        <p:nvSpPr>
          <p:cNvPr id="19" name="Text 16"/>
          <p:cNvSpPr txBox="1"/>
          <p:nvPr/>
        </p:nvSpPr>
        <p:spPr>
          <a:xfrm>
            <a:off x="5577840" y="3095608"/>
            <a:ext cx="6035040" cy="274320"/>
          </a:xfrm>
          <a:prstGeom prst="rect">
            <a:avLst/>
          </a:prstGeom>
          <a:noFill/>
          <a:ln/>
        </p:spPr>
        <p:txBody>
          <a:bodyPr wrap="square" lIns="0" tIns="0" rIns="0" bIns="0" rtlCol="0" anchor="t"/>
          <a:lstStyle/>
          <a:p>
            <a:pPr marL="0" indent="0">
              <a:buNone/>
            </a:pPr>
            <a:r>
              <a:rPr lang="en-US" sz="1200" i="1" dirty="0">
                <a:solidFill>
                  <a:schemeClr val="tx2"/>
                </a:solidFill>
              </a:rPr>
              <a:t>Fig. 2: Automatic log monitor detecting a test ERROR entry (PPT_DEMO_TEST)</a:t>
            </a:r>
            <a:endParaRPr lang="en-US" sz="1200" dirty="0"/>
          </a:p>
        </p:txBody>
      </p:sp>
      <p:sp>
        <p:nvSpPr>
          <p:cNvPr id="20" name="Text 17"/>
          <p:cNvSpPr txBox="1"/>
          <p:nvPr/>
        </p:nvSpPr>
        <p:spPr>
          <a:xfrm>
            <a:off x="5577840" y="3703320"/>
            <a:ext cx="603504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Monitors logs/sample.log and prints an ALERT for the new ERROR entry</a:t>
            </a:r>
            <a:endParaRPr lang="en-US" sz="1600" dirty="0"/>
          </a:p>
          <a:p>
            <a:pPr marL="342900" indent="-342900">
              <a:spcAft>
                <a:spcPts val="800"/>
              </a:spcAft>
              <a:buSzPct val="100000"/>
              <a:buChar char="•"/>
            </a:pPr>
            <a:r>
              <a:rPr lang="en-US" sz="1600" dirty="0">
                <a:solidFill>
                  <a:schemeClr val="tx1"/>
                </a:solidFill>
              </a:rPr>
              <a:t>Started manually (menu option 10 or dashboard Start Monitoring)</a:t>
            </a:r>
            <a:endParaRPr lang="en-US" sz="1600" dirty="0"/>
          </a:p>
          <a:p>
            <a:pPr marL="342900" indent="-342900">
              <a:spcAft>
                <a:spcPts val="800"/>
              </a:spcAft>
              <a:buSzPct val="100000"/>
              <a:buChar char="•"/>
            </a:pPr>
            <a:r>
              <a:rPr lang="en-US" sz="1600" dirty="0">
                <a:solidFill>
                  <a:schemeClr val="tx1"/>
                </a:solidFill>
              </a:rPr>
              <a:t>Stopped with Ctrl+C or the dashboard Stop Monitoring button</a:t>
            </a:r>
            <a:endParaRPr lang="en-US" sz="1600" dirty="0"/>
          </a:p>
          <a:p>
            <a:pPr>
              <a:spcAft>
                <a:spcPts val="800"/>
              </a:spcAft>
              <a:buSzPct val="100000"/>
            </a:pP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User Interfaces</a:t>
            </a:r>
            <a:endParaRPr lang="en-US" sz="3000" dirty="0"/>
          </a:p>
        </p:txBody>
      </p:sp>
      <p:sp>
        <p:nvSpPr>
          <p:cNvPr id="3" name="Shape 1"/>
          <p:cNvSpPr/>
          <p:nvPr/>
        </p:nvSpPr>
        <p:spPr>
          <a:xfrm>
            <a:off x="548640" y="1335024"/>
            <a:ext cx="4507992" cy="3768852"/>
          </a:xfrm>
          <a:prstGeom prst="rect">
            <a:avLst/>
          </a:prstGeom>
          <a:solidFill>
            <a:schemeClr val="bg1"/>
          </a:solidFill>
          <a:ln w="12700">
            <a:solidFill>
              <a:schemeClr val="tx2"/>
            </a:solidFill>
            <a:prstDash val="solid"/>
          </a:ln>
        </p:spPr>
        <p:txBody>
          <a:bodyPr/>
          <a:lstStyle/>
          <a:p>
            <a:endParaRPr lang="en-US"/>
          </a:p>
        </p:txBody>
      </p:sp>
      <p:pic>
        <p:nvPicPr>
          <p:cNvPr id="4" name="Image 0" descr="Terminal main menu"/>
          <p:cNvPicPr>
            <a:picLocks noChangeAspect="1"/>
          </p:cNvPicPr>
          <p:nvPr/>
        </p:nvPicPr>
        <p:blipFill>
          <a:blip r:embed="rId3"/>
          <a:stretch>
            <a:fillRect/>
          </a:stretch>
        </p:blipFill>
        <p:spPr>
          <a:xfrm>
            <a:off x="585216" y="1371600"/>
            <a:ext cx="4434840" cy="3695700"/>
          </a:xfrm>
          <a:prstGeom prst="rect">
            <a:avLst/>
          </a:prstGeom>
        </p:spPr>
      </p:pic>
      <p:sp>
        <p:nvSpPr>
          <p:cNvPr id="5" name="Shape 2"/>
          <p:cNvSpPr/>
          <p:nvPr/>
        </p:nvSpPr>
        <p:spPr>
          <a:xfrm>
            <a:off x="5358384" y="1335024"/>
            <a:ext cx="6291072" cy="3586721"/>
          </a:xfrm>
          <a:prstGeom prst="rect">
            <a:avLst/>
          </a:prstGeom>
          <a:solidFill>
            <a:schemeClr val="bg1"/>
          </a:solidFill>
          <a:ln w="12700">
            <a:solidFill>
              <a:schemeClr val="tx2"/>
            </a:solidFill>
            <a:prstDash val="solid"/>
          </a:ln>
        </p:spPr>
        <p:txBody>
          <a:bodyPr/>
          <a:lstStyle/>
          <a:p>
            <a:endParaRPr lang="en-US"/>
          </a:p>
        </p:txBody>
      </p:sp>
      <p:pic>
        <p:nvPicPr>
          <p:cNvPr id="6" name="Image 1" descr="Web dashboard"/>
          <p:cNvPicPr>
            <a:picLocks noChangeAspect="1"/>
          </p:cNvPicPr>
          <p:nvPr/>
        </p:nvPicPr>
        <p:blipFill>
          <a:blip r:embed="rId4"/>
          <a:stretch>
            <a:fillRect/>
          </a:stretch>
        </p:blipFill>
        <p:spPr>
          <a:xfrm>
            <a:off x="5394960" y="1371600"/>
            <a:ext cx="6217920" cy="3513569"/>
          </a:xfrm>
          <a:prstGeom prst="rect">
            <a:avLst/>
          </a:prstGeom>
        </p:spPr>
      </p:pic>
      <p:sp>
        <p:nvSpPr>
          <p:cNvPr id="7" name="Text 3"/>
          <p:cNvSpPr txBox="1"/>
          <p:nvPr/>
        </p:nvSpPr>
        <p:spPr>
          <a:xfrm>
            <a:off x="548640" y="5204460"/>
            <a:ext cx="4480560" cy="274320"/>
          </a:xfrm>
          <a:prstGeom prst="rect">
            <a:avLst/>
          </a:prstGeom>
          <a:noFill/>
          <a:ln/>
        </p:spPr>
        <p:txBody>
          <a:bodyPr wrap="square" lIns="0" tIns="0" rIns="0" bIns="0" rtlCol="0" anchor="t"/>
          <a:lstStyle/>
          <a:p>
            <a:pPr marL="0" indent="0">
              <a:buNone/>
            </a:pPr>
            <a:r>
              <a:rPr lang="en-US" sz="1200" i="1" dirty="0">
                <a:solidFill>
                  <a:schemeClr val="tx2"/>
                </a:solidFill>
              </a:rPr>
              <a:t>Fig. 3: Terminal main menu (10 options)</a:t>
            </a:r>
            <a:endParaRPr lang="en-US" sz="1200" dirty="0"/>
          </a:p>
        </p:txBody>
      </p:sp>
      <p:sp>
        <p:nvSpPr>
          <p:cNvPr id="8" name="Text 4"/>
          <p:cNvSpPr txBox="1"/>
          <p:nvPr/>
        </p:nvSpPr>
        <p:spPr>
          <a:xfrm>
            <a:off x="5358384" y="5022329"/>
            <a:ext cx="6309360" cy="274320"/>
          </a:xfrm>
          <a:prstGeom prst="rect">
            <a:avLst/>
          </a:prstGeom>
          <a:noFill/>
          <a:ln/>
        </p:spPr>
        <p:txBody>
          <a:bodyPr wrap="square" lIns="0" tIns="0" rIns="0" bIns="0" rtlCol="0" anchor="t"/>
          <a:lstStyle/>
          <a:p>
            <a:pPr marL="0" indent="0">
              <a:buNone/>
            </a:pPr>
            <a:r>
              <a:rPr lang="en-US" sz="1200" i="1" dirty="0">
                <a:solidFill>
                  <a:schemeClr val="tx2"/>
                </a:solidFill>
              </a:rPr>
              <a:t>Fig. 4: Web dashboard with statistics, controls and search</a:t>
            </a:r>
            <a:endParaRPr lang="en-US" sz="1200" dirty="0"/>
          </a:p>
        </p:txBody>
      </p:sp>
      <p:sp>
        <p:nvSpPr>
          <p:cNvPr id="9" name="Text 5"/>
          <p:cNvSpPr txBox="1"/>
          <p:nvPr/>
        </p:nvSpPr>
        <p:spPr>
          <a:xfrm>
            <a:off x="548640" y="5532120"/>
            <a:ext cx="4480560" cy="777240"/>
          </a:xfrm>
          <a:prstGeom prst="rect">
            <a:avLst/>
          </a:prstGeom>
          <a:noFill/>
          <a:ln/>
        </p:spPr>
        <p:txBody>
          <a:bodyPr wrap="square" lIns="0" tIns="0" rIns="0" bIns="0" rtlCol="0" anchor="t"/>
          <a:lstStyle/>
          <a:p>
            <a:pPr marL="0" indent="0">
              <a:buNone/>
            </a:pPr>
            <a:r>
              <a:rPr lang="en-US" sz="1500" b="1" dirty="0">
                <a:solidFill>
                  <a:schemeClr val="tx1"/>
                </a:solidFill>
              </a:rPr>
              <a:t>Terminal interface: </a:t>
            </a:r>
            <a:r>
              <a:rPr lang="en-US" sz="1500" dirty="0">
                <a:solidFill>
                  <a:schemeClr val="tx1"/>
                </a:solidFill>
              </a:rPr>
              <a:t>menu-driven; view, search, analyse and monitor logs.</a:t>
            </a:r>
            <a:endParaRPr lang="en-US" sz="1500" dirty="0"/>
          </a:p>
        </p:txBody>
      </p:sp>
      <p:sp>
        <p:nvSpPr>
          <p:cNvPr id="10" name="Text 6"/>
          <p:cNvSpPr txBox="1"/>
          <p:nvPr/>
        </p:nvSpPr>
        <p:spPr>
          <a:xfrm>
            <a:off x="5358384" y="5532120"/>
            <a:ext cx="6281928" cy="777240"/>
          </a:xfrm>
          <a:prstGeom prst="rect">
            <a:avLst/>
          </a:prstGeom>
          <a:noFill/>
          <a:ln/>
        </p:spPr>
        <p:txBody>
          <a:bodyPr wrap="square" lIns="0" tIns="0" rIns="0" bIns="0" rtlCol="0" anchor="t"/>
          <a:lstStyle/>
          <a:p>
            <a:pPr marL="0" indent="0">
              <a:buNone/>
            </a:pPr>
            <a:r>
              <a:rPr lang="en-US" sz="1500" b="1" dirty="0">
                <a:solidFill>
                  <a:schemeClr val="tx1"/>
                </a:solidFill>
              </a:rPr>
              <a:t>Local web dashboard: </a:t>
            </a:r>
            <a:r>
              <a:rPr lang="en-US" sz="1500" dirty="0">
                <a:solidFill>
                  <a:schemeClr val="tx1"/>
                </a:solidFill>
              </a:rPr>
              <a:t>statistics, keyword search, start/stop controls, alert history and access to real system logs.</a:t>
            </a:r>
            <a:endParaRPr lang="en-US" sz="15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Implementation, Testing and Results</a:t>
            </a:r>
            <a:endParaRPr lang="en-US" sz="3000" dirty="0"/>
          </a:p>
        </p:txBody>
      </p:sp>
      <p:sp>
        <p:nvSpPr>
          <p:cNvPr id="3" name="Shape 1"/>
          <p:cNvSpPr/>
          <p:nvPr/>
        </p:nvSpPr>
        <p:spPr>
          <a:xfrm>
            <a:off x="548640" y="1335024"/>
            <a:ext cx="5102352" cy="4622357"/>
          </a:xfrm>
          <a:prstGeom prst="rect">
            <a:avLst/>
          </a:prstGeom>
          <a:solidFill>
            <a:schemeClr val="bg1"/>
          </a:solidFill>
          <a:ln w="12700">
            <a:solidFill>
              <a:schemeClr val="tx2"/>
            </a:solidFill>
            <a:prstDash val="solid"/>
          </a:ln>
        </p:spPr>
        <p:txBody>
          <a:bodyPr/>
          <a:lstStyle/>
          <a:p>
            <a:endParaRPr lang="en-US"/>
          </a:p>
        </p:txBody>
      </p:sp>
      <p:pic>
        <p:nvPicPr>
          <p:cNvPr id="4" name="Image 0" descr="Full log analysis output"/>
          <p:cNvPicPr>
            <a:picLocks noChangeAspect="1"/>
          </p:cNvPicPr>
          <p:nvPr/>
        </p:nvPicPr>
        <p:blipFill>
          <a:blip r:embed="rId3"/>
          <a:stretch>
            <a:fillRect/>
          </a:stretch>
        </p:blipFill>
        <p:spPr>
          <a:xfrm>
            <a:off x="585216" y="1371600"/>
            <a:ext cx="5029200" cy="4549205"/>
          </a:xfrm>
          <a:prstGeom prst="rect">
            <a:avLst/>
          </a:prstGeom>
        </p:spPr>
      </p:pic>
      <p:sp>
        <p:nvSpPr>
          <p:cNvPr id="5" name="Text 2"/>
          <p:cNvSpPr txBox="1"/>
          <p:nvPr/>
        </p:nvSpPr>
        <p:spPr>
          <a:xfrm>
            <a:off x="548640" y="6057965"/>
            <a:ext cx="5120640" cy="274320"/>
          </a:xfrm>
          <a:prstGeom prst="rect">
            <a:avLst/>
          </a:prstGeom>
          <a:noFill/>
          <a:ln/>
        </p:spPr>
        <p:txBody>
          <a:bodyPr wrap="square" lIns="0" tIns="0" rIns="0" bIns="0" rtlCol="0" anchor="t"/>
          <a:lstStyle/>
          <a:p>
            <a:pPr marL="0" indent="0">
              <a:buNone/>
            </a:pPr>
            <a:r>
              <a:rPr lang="en-US" sz="1200" i="1" dirty="0">
                <a:solidFill>
                  <a:schemeClr val="tx2"/>
                </a:solidFill>
              </a:rPr>
              <a:t>Fig. 5: Full log analysis (analyzer script output)</a:t>
            </a:r>
            <a:endParaRPr lang="en-US" sz="1200" dirty="0"/>
          </a:p>
        </p:txBody>
      </p:sp>
      <p:sp>
        <p:nvSpPr>
          <p:cNvPr id="6" name="Text 3"/>
          <p:cNvSpPr txBox="1"/>
          <p:nvPr/>
        </p:nvSpPr>
        <p:spPr>
          <a:xfrm>
            <a:off x="6172200" y="1371600"/>
            <a:ext cx="5468112" cy="365760"/>
          </a:xfrm>
          <a:prstGeom prst="rect">
            <a:avLst/>
          </a:prstGeom>
          <a:noFill/>
          <a:ln/>
        </p:spPr>
        <p:txBody>
          <a:bodyPr wrap="square" lIns="0" tIns="0" rIns="0" bIns="0" rtlCol="0" anchor="t"/>
          <a:lstStyle/>
          <a:p>
            <a:pPr marL="0" indent="0">
              <a:buNone/>
            </a:pPr>
            <a:r>
              <a:rPr lang="en-US" sz="1800" b="1" dirty="0">
                <a:solidFill>
                  <a:schemeClr val="accent1"/>
                </a:solidFill>
              </a:rPr>
              <a:t>Results from the analyzer output (Fig. 5)</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72200" y="1874520"/>
          <a:ext cx="5468112" cy="2194560"/>
        </p:xfrm>
        <a:graphic>
          <a:graphicData uri="http://schemas.openxmlformats.org/drawingml/2006/table">
            <a:tbl>
              <a:tblPr/>
              <a:tblGrid>
                <a:gridCol w="3657600">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tblGrid>
              <a:tr h="438912">
                <a:tc>
                  <a:txBody>
                    <a:bodyPr/>
                    <a:lstStyle/>
                    <a:p>
                      <a:pPr marL="0" indent="0">
                        <a:buNone/>
                      </a:pPr>
                      <a:r>
                        <a:rPr lang="en-US" sz="1600" b="1" dirty="0">
                          <a:solidFill>
                            <a:schemeClr val="bg1"/>
                          </a:solidFill>
                        </a:rPr>
                        <a:t>Metric</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Count</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38912">
                <a:tc>
                  <a:txBody>
                    <a:bodyPr/>
                    <a:lstStyle/>
                    <a:p>
                      <a:pPr marL="0" indent="0" algn="l">
                        <a:buNone/>
                      </a:pPr>
                      <a:r>
                        <a:rPr lang="en-US" sz="1600" dirty="0">
                          <a:solidFill>
                            <a:schemeClr val="tx1"/>
                          </a:solidFill>
                        </a:rPr>
                        <a:t>Total log entries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rPr>
                        <a:t>24</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lgn="l">
                        <a:buNone/>
                      </a:pPr>
                      <a:r>
                        <a:rPr lang="en-US" sz="1600" dirty="0">
                          <a:solidFill>
                            <a:schemeClr val="tx1"/>
                          </a:solidFill>
                        </a:rPr>
                        <a:t>Error entries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rPr>
                        <a:t>10</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lgn="l">
                        <a:buNone/>
                      </a:pPr>
                      <a:r>
                        <a:rPr lang="en-US" sz="1600" dirty="0">
                          <a:solidFill>
                            <a:schemeClr val="tx1"/>
                          </a:solidFill>
                        </a:rPr>
                        <a:t>Critical entries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indent="0" algn="ctr">
                        <a:buNone/>
                      </a:pPr>
                      <a:r>
                        <a:rPr lang="en-US" sz="1600" b="1" dirty="0">
                          <a:solidFill>
                            <a:schemeClr val="tx1"/>
                          </a:solidFill>
                        </a:rPr>
                        <a:t>8</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lgn="l">
                        <a:buNone/>
                      </a:pPr>
                      <a:r>
                        <a:rPr lang="en-US" sz="1600" dirty="0">
                          <a:solidFill>
                            <a:schemeClr val="tx1"/>
                          </a:solidFill>
                        </a:rPr>
                        <a:t>Failed-login entries</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indent="0" algn="ctr">
                        <a:buNone/>
                      </a:pPr>
                      <a:r>
                        <a:rPr lang="en-US" sz="1600" b="1" dirty="0">
                          <a:solidFill>
                            <a:schemeClr val="tx1"/>
                          </a:solidFill>
                        </a:rPr>
                        <a:t>3</a:t>
                      </a:r>
                      <a:endParaRPr lang="en-US" sz="1600" dirty="0"/>
                    </a:p>
                  </a:txBody>
                  <a:tcPr marL="109728" marR="109728"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6172200" y="4389120"/>
            <a:ext cx="5468112" cy="365760"/>
          </a:xfrm>
          <a:prstGeom prst="rect">
            <a:avLst/>
          </a:prstGeom>
          <a:noFill/>
          <a:ln/>
        </p:spPr>
        <p:txBody>
          <a:bodyPr wrap="square" lIns="0" tIns="0" rIns="0" bIns="0" rtlCol="0" anchor="t"/>
          <a:lstStyle/>
          <a:p>
            <a:pPr marL="0" indent="0">
              <a:buNone/>
            </a:pPr>
            <a:r>
              <a:rPr lang="en-US" sz="1800" b="1" dirty="0">
                <a:solidFill>
                  <a:schemeClr val="accent1"/>
                </a:solidFill>
              </a:rPr>
              <a:t>Features demonstrated</a:t>
            </a:r>
            <a:endParaRPr lang="en-US" sz="1800" dirty="0"/>
          </a:p>
        </p:txBody>
      </p:sp>
      <p:sp>
        <p:nvSpPr>
          <p:cNvPr id="7" name="Text 5"/>
          <p:cNvSpPr txBox="1"/>
          <p:nvPr/>
        </p:nvSpPr>
        <p:spPr>
          <a:xfrm>
            <a:off x="6172200" y="4846320"/>
            <a:ext cx="5468112"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Full log analysis (Fig. 5)</a:t>
            </a:r>
            <a:endParaRPr lang="en-US" sz="1600" dirty="0"/>
          </a:p>
          <a:p>
            <a:pPr marL="342900" indent="-342900">
              <a:spcAft>
                <a:spcPts val="600"/>
              </a:spcAft>
              <a:buSzPct val="100000"/>
              <a:buChar char="•"/>
            </a:pPr>
            <a:r>
              <a:rPr lang="en-US" sz="1600" dirty="0">
                <a:solidFill>
                  <a:schemeClr val="tx1"/>
                </a:solidFill>
              </a:rPr>
              <a:t>Failed-login detection: admin and guest flagged (Fig. 1)</a:t>
            </a:r>
            <a:endParaRPr lang="en-US" sz="1600" dirty="0"/>
          </a:p>
          <a:p>
            <a:pPr marL="342900" indent="-342900">
              <a:spcAft>
                <a:spcPts val="600"/>
              </a:spcAft>
              <a:buSzPct val="100000"/>
              <a:buChar char="•"/>
            </a:pPr>
            <a:r>
              <a:rPr lang="en-US" sz="1600" dirty="0">
                <a:solidFill>
                  <a:schemeClr val="tx1"/>
                </a:solidFill>
              </a:rPr>
              <a:t>Automatic monitoring: test ERROR alert detected (Fig. 2)</a:t>
            </a:r>
            <a:endParaRPr lang="en-US" sz="16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tx1"/>
                </a:solidFill>
              </a:rPr>
              <a:t>Limitations and Future Scope</a:t>
            </a:r>
            <a:endParaRPr lang="en-US" sz="3000" dirty="0"/>
          </a:p>
        </p:txBody>
      </p:sp>
      <p:sp>
        <p:nvSpPr>
          <p:cNvPr id="3" name="Text 1"/>
          <p:cNvSpPr txBox="1"/>
          <p:nvPr/>
        </p:nvSpPr>
        <p:spPr>
          <a:xfrm>
            <a:off x="548640" y="1371600"/>
            <a:ext cx="5212080" cy="457200"/>
          </a:xfrm>
          <a:prstGeom prst="rect">
            <a:avLst/>
          </a:prstGeom>
          <a:noFill/>
          <a:ln/>
        </p:spPr>
        <p:txBody>
          <a:bodyPr wrap="square" lIns="0" tIns="0" rIns="0" bIns="0" rtlCol="0" anchor="t"/>
          <a:lstStyle/>
          <a:p>
            <a:pPr marL="0" indent="0">
              <a:buNone/>
            </a:pPr>
            <a:r>
              <a:rPr lang="en-US" sz="2200" b="1" dirty="0">
                <a:solidFill>
                  <a:schemeClr val="accent4"/>
                </a:solidFill>
              </a:rPr>
              <a:t>Current limitations</a:t>
            </a:r>
            <a:endParaRPr lang="en-US" sz="2200" dirty="0"/>
          </a:p>
        </p:txBody>
      </p:sp>
      <p:sp>
        <p:nvSpPr>
          <p:cNvPr id="4" name="Text 2"/>
          <p:cNvSpPr txBox="1"/>
          <p:nvPr/>
        </p:nvSpPr>
        <p:spPr>
          <a:xfrm>
            <a:off x="548640" y="2011680"/>
            <a:ext cx="5212080" cy="32004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Monitoring must be started manually</a:t>
            </a:r>
            <a:endParaRPr lang="en-US" sz="1800" dirty="0"/>
          </a:p>
          <a:p>
            <a:pPr marL="342900" indent="-342900">
              <a:spcAft>
                <a:spcPts val="1200"/>
              </a:spcAft>
              <a:buSzPct val="100000"/>
              <a:buChar char="•"/>
            </a:pPr>
            <a:r>
              <a:rPr lang="en-US" sz="1800" dirty="0">
                <a:solidFill>
                  <a:schemeClr val="tx1"/>
                </a:solidFill>
              </a:rPr>
              <a:t>No database-backed storage</a:t>
            </a:r>
            <a:endParaRPr lang="en-US" sz="1800" dirty="0"/>
          </a:p>
          <a:p>
            <a:pPr marL="342900" indent="-342900">
              <a:spcAft>
                <a:spcPts val="1200"/>
              </a:spcAft>
              <a:buSzPct val="100000"/>
              <a:buChar char="•"/>
            </a:pPr>
            <a:r>
              <a:rPr lang="en-US" sz="1800" dirty="0">
                <a:solidFill>
                  <a:schemeClr val="tx1"/>
                </a:solidFill>
              </a:rPr>
              <a:t>No email notifications</a:t>
            </a:r>
            <a:endParaRPr lang="en-US" sz="1800" dirty="0"/>
          </a:p>
          <a:p>
            <a:pPr marL="342900" indent="-342900">
              <a:spcAft>
                <a:spcPts val="1200"/>
              </a:spcAft>
              <a:buSzPct val="100000"/>
              <a:buChar char="•"/>
            </a:pPr>
            <a:r>
              <a:rPr lang="en-US" sz="1800" dirty="0">
                <a:solidFill>
                  <a:schemeClr val="tx1"/>
                </a:solidFill>
              </a:rPr>
              <a:t>The dashboard runs locally only</a:t>
            </a:r>
            <a:endParaRPr lang="en-US" sz="1800" dirty="0"/>
          </a:p>
        </p:txBody>
      </p:sp>
      <p:sp>
        <p:nvSpPr>
          <p:cNvPr id="5" name="Shape 3"/>
          <p:cNvSpPr/>
          <p:nvPr/>
        </p:nvSpPr>
        <p:spPr>
          <a:xfrm>
            <a:off x="6099048" y="1371600"/>
            <a:ext cx="0" cy="4206240"/>
          </a:xfrm>
          <a:prstGeom prst="line">
            <a:avLst/>
          </a:prstGeom>
          <a:noFill/>
          <a:ln w="12700">
            <a:solidFill>
              <a:schemeClr val="tx2"/>
            </a:solidFill>
            <a:prstDash val="solid"/>
          </a:ln>
        </p:spPr>
        <p:txBody>
          <a:bodyPr/>
          <a:lstStyle/>
          <a:p>
            <a:endParaRPr lang="en-US"/>
          </a:p>
        </p:txBody>
      </p:sp>
      <p:sp>
        <p:nvSpPr>
          <p:cNvPr id="6" name="Text 4"/>
          <p:cNvSpPr txBox="1"/>
          <p:nvPr/>
        </p:nvSpPr>
        <p:spPr>
          <a:xfrm>
            <a:off x="6400800" y="1371600"/>
            <a:ext cx="5212080" cy="457200"/>
          </a:xfrm>
          <a:prstGeom prst="rect">
            <a:avLst/>
          </a:prstGeom>
          <a:noFill/>
          <a:ln/>
        </p:spPr>
        <p:txBody>
          <a:bodyPr wrap="square" lIns="0" tIns="0" rIns="0" bIns="0" rtlCol="0" anchor="t"/>
          <a:lstStyle/>
          <a:p>
            <a:pPr marL="0" indent="0">
              <a:buNone/>
            </a:pPr>
            <a:r>
              <a:rPr lang="en-US" sz="2200" b="1" dirty="0">
                <a:solidFill>
                  <a:schemeClr val="accent1"/>
                </a:solidFill>
              </a:rPr>
              <a:t>Future scope (not yet implemented)</a:t>
            </a:r>
            <a:endParaRPr lang="en-US" sz="2200" dirty="0"/>
          </a:p>
        </p:txBody>
      </p:sp>
      <p:sp>
        <p:nvSpPr>
          <p:cNvPr id="7" name="Text 5"/>
          <p:cNvSpPr txBox="1"/>
          <p:nvPr/>
        </p:nvSpPr>
        <p:spPr>
          <a:xfrm>
            <a:off x="6400800" y="2011680"/>
            <a:ext cx="5212080" cy="35661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Scheduled monitoring</a:t>
            </a:r>
            <a:endParaRPr lang="en-US" sz="1800" dirty="0"/>
          </a:p>
          <a:p>
            <a:pPr marL="342900" indent="-342900">
              <a:spcAft>
                <a:spcPts val="1200"/>
              </a:spcAft>
              <a:buSzPct val="100000"/>
              <a:buChar char="•"/>
            </a:pPr>
            <a:r>
              <a:rPr lang="en-US" sz="1800" dirty="0">
                <a:solidFill>
                  <a:schemeClr val="tx1"/>
                </a:solidFill>
              </a:rPr>
              <a:t>Database-backed historical log storage</a:t>
            </a:r>
            <a:endParaRPr lang="en-US" sz="1800" dirty="0"/>
          </a:p>
          <a:p>
            <a:pPr marL="342900" indent="-342900">
              <a:spcAft>
                <a:spcPts val="1200"/>
              </a:spcAft>
              <a:buSzPct val="100000"/>
              <a:buChar char="•"/>
            </a:pPr>
            <a:r>
              <a:rPr lang="en-US" sz="1800" dirty="0">
                <a:solidFill>
                  <a:schemeClr val="tx1"/>
                </a:solidFill>
              </a:rPr>
              <a:t>Email or messaging alerts</a:t>
            </a:r>
            <a:endParaRPr lang="en-US" sz="1800" dirty="0"/>
          </a:p>
          <a:p>
            <a:pPr marL="342900" indent="-342900">
              <a:spcAft>
                <a:spcPts val="1200"/>
              </a:spcAft>
              <a:buSzPct val="100000"/>
              <a:buChar char="•"/>
            </a:pPr>
            <a:r>
              <a:rPr lang="en-US" sz="1800" dirty="0">
                <a:solidFill>
                  <a:schemeClr val="tx1"/>
                </a:solidFill>
              </a:rPr>
              <a:t>More advanced log filtering and reporting</a:t>
            </a:r>
            <a:endParaRPr lang="en-US" sz="1800" dirty="0"/>
          </a:p>
          <a:p>
            <a:pPr marL="342900" indent="-342900">
              <a:spcAft>
                <a:spcPts val="1200"/>
              </a:spcAft>
              <a:buSzPct val="100000"/>
              <a:buChar char="•"/>
            </a:pPr>
            <a:r>
              <a:rPr lang="en-US" sz="1800" dirty="0">
                <a:solidFill>
                  <a:schemeClr val="tx1"/>
                </a:solidFill>
              </a:rPr>
              <a:t>Remote monitoring across multiple Linux systems</a:t>
            </a:r>
            <a:endParaRPr lang="en-US" sz="18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chemeClr val="bg1"/>
                </a:solidFill>
              </a:rPr>
              <a:t>Conclusion</a:t>
            </a:r>
            <a:endParaRPr lang="en-US" sz="3000" dirty="0"/>
          </a:p>
        </p:txBody>
      </p:sp>
      <p:sp>
        <p:nvSpPr>
          <p:cNvPr id="3" name="Text 1"/>
          <p:cNvSpPr txBox="1"/>
          <p:nvPr/>
        </p:nvSpPr>
        <p:spPr>
          <a:xfrm>
            <a:off x="548640" y="1463040"/>
            <a:ext cx="6400800" cy="411480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bg1"/>
                </a:solidFill>
              </a:rPr>
              <a:t>The system lets users view, search and analyse sample and real Linux logs.</a:t>
            </a:r>
            <a:endParaRPr lang="en-US" sz="2000" dirty="0"/>
          </a:p>
          <a:p>
            <a:pPr marL="342900" indent="-342900">
              <a:spcAft>
                <a:spcPts val="1600"/>
              </a:spcAft>
              <a:buSzPct val="100000"/>
              <a:buChar char="•"/>
            </a:pPr>
            <a:r>
              <a:rPr lang="en-US" sz="2000" dirty="0">
                <a:solidFill>
                  <a:schemeClr val="bg1"/>
                </a:solidFill>
              </a:rPr>
              <a:t>It identifies errors, critical events and failed logins.</a:t>
            </a:r>
            <a:endParaRPr lang="en-US" sz="2000" dirty="0"/>
          </a:p>
          <a:p>
            <a:pPr marL="342900" indent="-342900">
              <a:spcAft>
                <a:spcPts val="1600"/>
              </a:spcAft>
              <a:buSzPct val="100000"/>
              <a:buChar char="•"/>
            </a:pPr>
            <a:r>
              <a:rPr lang="en-US" sz="2000" dirty="0">
                <a:solidFill>
                  <a:schemeClr val="bg1"/>
                </a:solidFill>
              </a:rPr>
              <a:t>It generates alerts and summary reports.</a:t>
            </a:r>
            <a:endParaRPr lang="en-US" sz="2000" dirty="0"/>
          </a:p>
          <a:p>
            <a:pPr marL="342900" indent="-342900">
              <a:spcAft>
                <a:spcPts val="1600"/>
              </a:spcAft>
              <a:buSzPct val="100000"/>
              <a:buChar char="•"/>
            </a:pPr>
            <a:r>
              <a:rPr lang="en-US" sz="2000" dirty="0">
                <a:solidFill>
                  <a:schemeClr val="bg1"/>
                </a:solidFill>
              </a:rPr>
              <a:t>Results are available through a terminal menu and a local web dashboard.</a:t>
            </a:r>
            <a:endParaRPr lang="en-US" sz="2000" dirty="0"/>
          </a:p>
        </p:txBody>
      </p:sp>
      <p:sp>
        <p:nvSpPr>
          <p:cNvPr id="4" name="Text 2"/>
          <p:cNvSpPr txBox="1"/>
          <p:nvPr/>
        </p:nvSpPr>
        <p:spPr>
          <a:xfrm>
            <a:off x="7498080" y="2194560"/>
            <a:ext cx="4114800" cy="914400"/>
          </a:xfrm>
          <a:prstGeom prst="rect">
            <a:avLst/>
          </a:prstGeom>
          <a:noFill/>
          <a:ln/>
        </p:spPr>
        <p:txBody>
          <a:bodyPr wrap="square" lIns="0" tIns="0" rIns="0" bIns="0" rtlCol="0" anchor="ctr"/>
          <a:lstStyle/>
          <a:p>
            <a:pPr marL="0" indent="0" algn="ctr">
              <a:buNone/>
            </a:pPr>
            <a:r>
              <a:rPr lang="en-US" sz="4400" b="1" dirty="0">
                <a:solidFill>
                  <a:schemeClr val="bg1"/>
                </a:solidFill>
              </a:rPr>
              <a:t>Thank You</a:t>
            </a:r>
            <a:endParaRPr lang="en-US" sz="4400" dirty="0"/>
          </a:p>
        </p:txBody>
      </p:sp>
      <p:sp>
        <p:nvSpPr>
          <p:cNvPr id="5" name="Text 3"/>
          <p:cNvSpPr txBox="1"/>
          <p:nvPr/>
        </p:nvSpPr>
        <p:spPr>
          <a:xfrm>
            <a:off x="7498080" y="3200400"/>
            <a:ext cx="4114800" cy="731520"/>
          </a:xfrm>
          <a:prstGeom prst="rect">
            <a:avLst/>
          </a:prstGeom>
          <a:noFill/>
          <a:ln/>
        </p:spPr>
        <p:txBody>
          <a:bodyPr wrap="square" lIns="0" tIns="0" rIns="0" bIns="0" rtlCol="0" anchor="ctr"/>
          <a:lstStyle/>
          <a:p>
            <a:pPr marL="0" indent="0" algn="ctr">
              <a:buNone/>
            </a:pPr>
            <a:endParaRPr lang="en-US" sz="3000" dirty="0"/>
          </a:p>
        </p:txBody>
      </p:sp>
      <p:sp>
        <p:nvSpPr>
          <p:cNvPr id="25" name="Slide Number Placeholder 0"/>
          <p:cNvSpPr>
            <a:spLocks noGrp="1"/>
          </p:cNvSpPr>
          <p:nvPr>
            <p:ph type="sldNum" sz="quarter" idx="4294967295"/>
          </p:nvPr>
        </p:nvSpPr>
        <p:spPr>
          <a:xfrm>
            <a:off x="10908792"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Project Plain">
  <a:themeElements>
    <a:clrScheme name="Project Plain">
      <a:dk1>
        <a:srgbClr val="1B2A41"/>
      </a:dk1>
      <a:lt1>
        <a:srgbClr val="FFFFFF"/>
      </a:lt1>
      <a:dk2>
        <a:srgbClr val="55607A"/>
      </a:dk2>
      <a:lt2>
        <a:srgbClr val="EEF2F7"/>
      </a:lt2>
      <a:accent1>
        <a:srgbClr val="1F6FB2"/>
      </a:accent1>
      <a:accent2>
        <a:srgbClr val="2E7D32"/>
      </a:accent2>
      <a:accent3>
        <a:srgbClr val="B7791F"/>
      </a:accent3>
      <a:accent4>
        <a:srgbClr val="B83232"/>
      </a:accent4>
      <a:accent5>
        <a:srgbClr val="0E7490"/>
      </a:accent5>
      <a:accent6>
        <a:srgbClr val="6B7280"/>
      </a:accent6>
      <a:hlink>
        <a:srgbClr val="1F6FB2"/>
      </a:hlink>
      <a:folHlink>
        <a:srgbClr val="6B7280"/>
      </a:folHlink>
    </a:clrScheme>
    <a:fontScheme name="Project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952</Words>
  <Application>Microsoft Office PowerPoint</Application>
  <PresentationFormat>Widescreen</PresentationFormat>
  <Paragraphs>150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Project Plain</vt:lpstr>
      <vt:lpstr>Linux Log Monitoring &amp; Alert System</vt:lpstr>
      <vt:lpstr>Problem Statement and Aim</vt:lpstr>
      <vt:lpstr>Objectives and Key Features</vt:lpstr>
      <vt:lpstr>Tools and Technologies</vt:lpstr>
      <vt:lpstr>System Architecture</vt:lpstr>
      <vt:lpstr>Monitoring Workflow</vt:lpstr>
      <vt:lpstr>User Interfaces</vt:lpstr>
      <vt:lpstr>Implementation, Testing and Results</vt:lpstr>
      <vt:lpstr>Limitations and Future Scope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Log Monitoring &amp; Alert System</dc:title>
  <dc:subject>PptxGenJS Presentation</dc:subject>
  <dc:creator>PptxGenJS</dc:creator>
  <cp:lastModifiedBy>yateesh yanamala</cp:lastModifiedBy>
  <cp:revision>2</cp:revision>
  <dcterms:created xsi:type="dcterms:W3CDTF">2026-10-23T02:50:06Z</dcterms:created>
  <dcterms:modified xsi:type="dcterms:W3CDTF">2026-10-23T05:58:59Z</dcterms:modified>
</cp:coreProperties>
</file>